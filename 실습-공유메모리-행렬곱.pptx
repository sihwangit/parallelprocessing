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5" r:id="rId2"/>
  </p:sldMasterIdLst>
  <p:notesMasterIdLst>
    <p:notesMasterId r:id="rId17"/>
  </p:notesMasterIdLst>
  <p:sldIdLst>
    <p:sldId id="644" r:id="rId3"/>
    <p:sldId id="379" r:id="rId4"/>
    <p:sldId id="659" r:id="rId5"/>
    <p:sldId id="645" r:id="rId6"/>
    <p:sldId id="342" r:id="rId7"/>
    <p:sldId id="647" r:id="rId8"/>
    <p:sldId id="648" r:id="rId9"/>
    <p:sldId id="649" r:id="rId10"/>
    <p:sldId id="655" r:id="rId11"/>
    <p:sldId id="656" r:id="rId12"/>
    <p:sldId id="657" r:id="rId13"/>
    <p:sldId id="658" r:id="rId14"/>
    <p:sldId id="660" r:id="rId15"/>
    <p:sldId id="560" r:id="rId16"/>
  </p:sldIdLst>
  <p:sldSz cx="12192000" cy="6858000"/>
  <p:notesSz cx="6881813" cy="10002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CC1"/>
    <a:srgbClr val="4472C4"/>
    <a:srgbClr val="FFC000"/>
    <a:srgbClr val="0000FF"/>
    <a:srgbClr val="FF0000"/>
    <a:srgbClr val="2F5597"/>
    <a:srgbClr val="993300"/>
    <a:srgbClr val="BFBFBF"/>
    <a:srgbClr val="FFFF9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9" autoAdjust="0"/>
    <p:restoredTop sz="93073" autoAdjust="0"/>
  </p:normalViewPr>
  <p:slideViewPr>
    <p:cSldViewPr snapToGrid="0">
      <p:cViewPr varScale="1">
        <p:scale>
          <a:sx n="147" d="100"/>
          <a:sy n="147" d="100"/>
        </p:scale>
        <p:origin x="148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51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DD59A11F-DD13-4FD2-9A4F-956AF2B8F054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7895CB80-6DA6-4FD8-87E4-0DAFCBE584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266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42913" y="1250950"/>
            <a:ext cx="5997575" cy="3375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CB80-6DA6-4FD8-87E4-0DAFCBE5843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47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32CA2-3249-4EAD-8243-531BC30528AD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87BE7-7AAC-4E0F-8FB7-BE3C03E5E63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6" descr="1-29-Graphic-Motif-Type-A-Co">
            <a:extLst>
              <a:ext uri="{FF2B5EF4-FFF2-40B4-BE49-F238E27FC236}">
                <a16:creationId xmlns:a16="http://schemas.microsoft.com/office/drawing/2014/main" id="{64E2DC9B-7AF5-43F6-80E3-4374B86BE296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5768688"/>
            <a:ext cx="12192000" cy="76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930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32CA2-3249-4EAD-8243-531BC30528AD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87BE7-7AAC-4E0F-8FB7-BE3C03E5E63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580D051-4DAB-4B80-9EA7-BDCB62CD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5600" cy="756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BF4A519C-7588-40C5-AC5D-B6E24A8512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588073"/>
            <a:ext cx="10515600" cy="4768277"/>
          </a:xfrm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1DBE04A-B690-484B-A6FC-E644BCD23A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79820" y="108115"/>
            <a:ext cx="611560" cy="61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C15AE-F2CD-4FD0-9B9D-48290009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763"/>
            <a:ext cx="10515600" cy="75286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25D512-5400-4C70-84EF-2B07DA07E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88073"/>
            <a:ext cx="5181600" cy="458888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8CC1AF-72CB-49E1-BBED-B606ED729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88074"/>
            <a:ext cx="5181600" cy="45888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9A44F4-6F39-4180-8B79-E2BA6BF82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37B2-50FE-4FB0-AAD0-91A55CD6906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45C0B-70E1-4BD3-9277-1D8A801B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1EAFB0-4F01-4BBC-B71A-670F2036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F7D-E8E3-44EC-B36A-9EBDEF8BB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25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32CA2-3249-4EAD-8243-531BC30528AD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87BE7-7AAC-4E0F-8FB7-BE3C03E5E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32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000">
                <a:latin typeface="+mn-ea"/>
                <a:ea typeface="+mn-ea"/>
                <a:cs typeface="Tahoma" panose="020B0604030504040204" pitchFamily="34" charset="0"/>
              </a:defRPr>
            </a:lvl1pPr>
            <a:lvl2pPr>
              <a:lnSpc>
                <a:spcPct val="100000"/>
              </a:lnSpc>
              <a:defRPr sz="1800">
                <a:latin typeface="+mn-ea"/>
                <a:ea typeface="+mn-ea"/>
                <a:cs typeface="Tahoma" panose="020B0604030504040204" pitchFamily="34" charset="0"/>
              </a:defRPr>
            </a:lvl2pPr>
            <a:lvl3pPr>
              <a:lnSpc>
                <a:spcPct val="100000"/>
              </a:lnSpc>
              <a:defRPr sz="1800">
                <a:latin typeface="+mn-ea"/>
                <a:ea typeface="+mn-ea"/>
                <a:cs typeface="Tahoma" panose="020B0604030504040204" pitchFamily="34" charset="0"/>
              </a:defRPr>
            </a:lvl3pPr>
            <a:lvl4pPr>
              <a:lnSpc>
                <a:spcPct val="100000"/>
              </a:lnSpc>
              <a:defRPr sz="1800">
                <a:latin typeface="+mn-ea"/>
                <a:ea typeface="+mn-ea"/>
                <a:cs typeface="Tahoma" panose="020B0604030504040204" pitchFamily="34" charset="0"/>
              </a:defRPr>
            </a:lvl4pPr>
            <a:lvl5pPr>
              <a:lnSpc>
                <a:spcPct val="100000"/>
              </a:lnSpc>
              <a:defRPr sz="1800">
                <a:latin typeface="+mn-ea"/>
                <a:ea typeface="+mn-ea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B4D42-B4C3-453B-AC7B-F2A1B16C6E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7852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6D38E-E328-410C-98C1-0FADB0196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6EE08D-4F43-406B-A128-D939FC5AF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904B4-43BB-49AA-A22E-9F2AD263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B4020-E726-4081-A8EB-CECA056F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817365-C01B-443A-9444-0C9AE67C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33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F8FEF-E929-4625-B208-C7478F4F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8BF88F-89B3-44E5-ACE6-9B9364192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8761F-C292-4C6B-BC90-86D6A1A9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C228EC-FBFF-4547-8BBE-F0A6513D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4DBE7F-5392-4C53-8DE3-26AAF4B0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0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B8DDB-379C-4B73-B9A5-DA46E87A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D4FE1C-2B9B-474E-A293-EE224A1C6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34F50-5073-4BF4-9A69-7AA48990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67D1C-753B-41DA-AE5E-E3C4ACBE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49106E-D1C8-41A1-81CC-712B37E5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6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10D26-6AA9-45C6-B488-FD2B2E2F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F3E227-BBB7-42D2-BF2C-61A28C32A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744965-5C0F-487B-9E59-D0BEDB1DA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560A9D-B652-48C0-BAE1-CB127803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1916FC-FFC5-4119-8BE5-9CE4FDCF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9E63D6-017B-4F88-872A-FE7CD286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76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2982A-F0A8-45AE-AC89-6324CB5D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FF8134-1F8A-4FAF-8A9F-1FFF34AF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7FC29E-C55E-4422-8809-6E1537932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5712D6-EFDF-447B-ABED-CE6D4D327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4BD971-CBD3-498F-B4BB-3CF63A35D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34B54F-E1A6-49E5-8242-CE777E43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1EE485-A36C-478A-93AF-A406EE9A1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1CE7C0-58B0-4599-8D02-23390664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7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E9027-E7A1-4073-909F-4797A5C4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15AF56-3D5C-4576-9EAB-D6851571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712F4A-00FA-43E5-A365-87CA4725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EEEAEA-A755-449D-B062-F5EB7870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503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41B33D-CC6D-467D-882A-C9720D74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26DC3A-0A51-4206-8FA3-F60A9721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EE00F0-27DA-44BF-8350-DE7689C2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239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445C9-8843-49A0-93DA-DCC5CAA8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2E1C87-75E2-4CA5-BC3D-1037AE400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283913-EEC8-47D3-AD74-74F8AD9C5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E54A9-8A6A-4DE1-A883-E94C82D6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1DEAA2-0DFB-4108-9F14-C3704EAA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5C18B5-D0E7-41EE-891C-F53AD3DD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229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3F925-1C00-4591-82B8-D9DFDB48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099F9-566D-4036-9298-B273198DC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5AB981-4D20-46CE-9637-5971E6B0D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7A171A-DEBF-4971-919F-B4CBDDEB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05D6A3-8D33-4B0D-B8C6-778590B3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9D6A49-BEF9-4048-95C9-783F72D6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525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AE175-80AA-483B-B14C-5836BB25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6B22E7-929C-4FF4-8EBE-DDD25C28F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07F9C-7859-4C10-96F8-AF307E42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881FD-0B8F-4657-9BCB-EEC67E8F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95C08-410F-489D-9877-795DAD71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919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552E6D-E858-4C58-93E4-84225E6AD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5C0CD0-C40B-4051-A38C-6C30CC8DD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A75F86-6C09-46D2-BC35-FBD7C2BB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BD19F3-24FE-4806-B770-9A1B7F4F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A49E5-830C-442B-AE60-2BF9DD69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65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1763"/>
            <a:ext cx="10515600" cy="756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8072"/>
            <a:ext cx="10515600" cy="476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32CA2-3249-4EAD-8243-531BC30528AD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87BE7-7AAC-4E0F-8FB7-BE3C03E5E63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6" descr="1-29-Graphic-Motif-Type-A-Co">
            <a:extLst>
              <a:ext uri="{FF2B5EF4-FFF2-40B4-BE49-F238E27FC236}">
                <a16:creationId xmlns:a16="http://schemas.microsoft.com/office/drawing/2014/main" id="{56ECB898-C399-4951-BDE9-503BD7E046AE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0" y="1184464"/>
            <a:ext cx="12192000" cy="76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933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92" r:id="rId3"/>
    <p:sldLayoutId id="2147483679" r:id="rId4"/>
    <p:sldLayoutId id="214748370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ahoma" panose="020B0604030504040204" pitchFamily="34" charset="0"/>
          <a:ea typeface="+mj-ea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2DC915-1684-4142-9D35-114BA34E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7AE0F4-3128-4C8D-8AC9-95540647C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96BEE2-5B25-4B1F-90DF-79652DB9A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0FCFE-FD11-45F5-B9A5-25CB76CD0B2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89300F-7540-4E6B-AF39-81E882272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584188-14DA-4BCB-8D13-EC7AD55D5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96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81D60-4BEF-4AC0-B62E-E71A2FC46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79" y="1583475"/>
            <a:ext cx="11302739" cy="1343644"/>
          </a:xfrm>
        </p:spPr>
        <p:txBody>
          <a:bodyPr anchor="ctr">
            <a:noAutofit/>
          </a:bodyPr>
          <a:lstStyle/>
          <a:p>
            <a:r>
              <a:rPr lang="ko-KR" altLang="en-US" sz="4000" dirty="0">
                <a:latin typeface="+mj-ea"/>
              </a:rPr>
              <a:t>공유 메모리를 이용한 행렬 곱</a:t>
            </a:r>
            <a:endParaRPr lang="en-US" altLang="ko-KR" sz="2400" dirty="0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9417E9-25ED-4CC9-BBDF-096B2B74A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8100" y="3824494"/>
            <a:ext cx="9575800" cy="1883664"/>
          </a:xfrm>
        </p:spPr>
        <p:txBody>
          <a:bodyPr anchor="ctr">
            <a:normAutofit/>
          </a:bodyPr>
          <a:lstStyle/>
          <a:p>
            <a:r>
              <a:rPr lang="ko-KR" altLang="en-US" sz="2800" b="1" dirty="0">
                <a:latin typeface="+mn-ea"/>
                <a:ea typeface="+mn-ea"/>
              </a:rPr>
              <a:t>윤 승 현</a:t>
            </a:r>
            <a:endParaRPr lang="en-US" altLang="ko-KR" sz="2800" b="1" dirty="0">
              <a:latin typeface="+mn-ea"/>
              <a:ea typeface="+mn-ea"/>
            </a:endParaRPr>
          </a:p>
          <a:p>
            <a:r>
              <a:rPr lang="ko-KR" altLang="en-US" sz="2800" b="1" dirty="0">
                <a:latin typeface="+mn-ea"/>
                <a:ea typeface="+mn-ea"/>
              </a:rPr>
              <a:t>동국대학교 컴퓨터</a:t>
            </a:r>
            <a:r>
              <a:rPr lang="ko-KR" altLang="en-US" sz="2800" b="1" dirty="0">
                <a:latin typeface="+mn-ea"/>
                <a:ea typeface="+mn-ea"/>
                <a:sym typeface="Wingdings" panose="05000000000000000000" pitchFamily="2" charset="2"/>
              </a:rPr>
              <a:t></a:t>
            </a:r>
            <a:r>
              <a:rPr lang="en-US" altLang="ko-KR" sz="2800" b="1" dirty="0">
                <a:latin typeface="+mn-ea"/>
                <a:ea typeface="+mn-ea"/>
                <a:sym typeface="Wingdings" panose="05000000000000000000" pitchFamily="2" charset="2"/>
              </a:rPr>
              <a:t>AI</a:t>
            </a:r>
            <a:r>
              <a:rPr lang="ko-KR" altLang="en-US" sz="2800" b="1" dirty="0">
                <a:latin typeface="+mn-ea"/>
                <a:ea typeface="+mn-ea"/>
                <a:sym typeface="Wingdings" panose="05000000000000000000" pitchFamily="2" charset="2"/>
              </a:rPr>
              <a:t>학부</a:t>
            </a:r>
            <a:endParaRPr lang="en-US" altLang="ko-KR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472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내용</a:t>
            </a:r>
            <a:endParaRPr lang="ko-KR" altLang="en-US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+mn-ea"/>
                      </a:rPr>
                      <m:t>32×32</m:t>
                    </m:r>
                  </m:oMath>
                </a14:m>
                <a:r>
                  <a:rPr lang="en-US" altLang="ko-KR" sz="2000" dirty="0">
                    <a:latin typeface="+mn-ea"/>
                    <a:ea typeface="+mn-ea"/>
                  </a:rPr>
                  <a:t> </a:t>
                </a:r>
                <a:r>
                  <a:rPr lang="ko-KR" altLang="en-US" sz="2000" dirty="0">
                    <a:latin typeface="+mn-ea"/>
                    <a:ea typeface="+mn-ea"/>
                  </a:rPr>
                  <a:t>이상의 두 행렬 </a:t>
                </a:r>
                <a:r>
                  <a:rPr lang="en-US" altLang="ko-KR" sz="2000" dirty="0">
                    <a:latin typeface="+mn-ea"/>
                    <a:ea typeface="+mn-ea"/>
                  </a:rPr>
                  <a:t>M, N</a:t>
                </a:r>
                <a:r>
                  <a:rPr lang="ko-KR" altLang="en-US" sz="2000" dirty="0">
                    <a:latin typeface="+mn-ea"/>
                    <a:ea typeface="+mn-ea"/>
                  </a:rPr>
                  <a:t>에 대하여</a:t>
                </a:r>
                <a:r>
                  <a:rPr lang="en-US" altLang="ko-KR" sz="2000" dirty="0">
                    <a:latin typeface="+mn-ea"/>
                    <a:ea typeface="+mn-ea"/>
                  </a:rPr>
                  <a:t>,</a:t>
                </a:r>
              </a:p>
              <a:p>
                <a:pPr marL="914400" lvl="1" indent="-457200">
                  <a:lnSpc>
                    <a:spcPct val="100000"/>
                  </a:lnSpc>
                  <a:buFont typeface="+mj-ea"/>
                  <a:buAutoNum type="circleNumDbPlain"/>
                </a:pPr>
                <a:r>
                  <a:rPr lang="en-US" altLang="ko-KR" sz="1800" dirty="0">
                    <a:latin typeface="+mn-ea"/>
                    <a:ea typeface="+mn-ea"/>
                  </a:rPr>
                  <a:t>GPU</a:t>
                </a:r>
                <a:r>
                  <a:rPr lang="ko-KR" altLang="en-US" sz="1800" dirty="0">
                    <a:latin typeface="+mn-ea"/>
                    <a:ea typeface="+mn-ea"/>
                  </a:rPr>
                  <a:t> </a:t>
                </a:r>
                <a:r>
                  <a:rPr lang="ko-KR" altLang="en-US" sz="1800" dirty="0">
                    <a:solidFill>
                      <a:srgbClr val="0070C0"/>
                    </a:solidFill>
                    <a:latin typeface="+mn-ea"/>
                    <a:ea typeface="+mn-ea"/>
                  </a:rPr>
                  <a:t>전역 메모리</a:t>
                </a:r>
                <a:r>
                  <a:rPr lang="ko-KR" altLang="en-US" sz="1800" dirty="0">
                    <a:latin typeface="+mn-ea"/>
                    <a:ea typeface="+mn-ea"/>
                  </a:rPr>
                  <a:t>를 이용하여 두 행렬의 곱을 구하는 프로그램을 작성</a:t>
                </a:r>
                <a:endParaRPr lang="en-US" altLang="ko-KR" sz="1800" dirty="0">
                  <a:latin typeface="+mn-ea"/>
                  <a:ea typeface="+mn-ea"/>
                </a:endParaRPr>
              </a:p>
              <a:p>
                <a:pPr marL="914400" lvl="1" indent="-457200">
                  <a:lnSpc>
                    <a:spcPct val="100000"/>
                  </a:lnSpc>
                  <a:buFont typeface="+mj-ea"/>
                  <a:buAutoNum type="circleNumDbPlain"/>
                </a:pPr>
                <a:r>
                  <a:rPr lang="en-US" altLang="ko-KR" sz="1800" dirty="0">
                    <a:latin typeface="+mn-ea"/>
                    <a:ea typeface="+mn-ea"/>
                  </a:rPr>
                  <a:t>GPU</a:t>
                </a:r>
                <a:r>
                  <a:rPr lang="ko-KR" altLang="en-US" sz="1800" dirty="0">
                    <a:latin typeface="+mn-ea"/>
                    <a:ea typeface="+mn-ea"/>
                  </a:rPr>
                  <a:t> </a:t>
                </a:r>
                <a:r>
                  <a:rPr lang="ko-KR" altLang="en-US" sz="1800" dirty="0">
                    <a:solidFill>
                      <a:srgbClr val="0070C0"/>
                    </a:solidFill>
                    <a:latin typeface="+mn-ea"/>
                    <a:ea typeface="+mn-ea"/>
                  </a:rPr>
                  <a:t>공유 메모리</a:t>
                </a:r>
                <a:r>
                  <a:rPr lang="ko-KR" altLang="en-US" sz="1800" dirty="0">
                    <a:latin typeface="+mn-ea"/>
                    <a:ea typeface="+mn-ea"/>
                  </a:rPr>
                  <a:t>를 이용하여 두 행렬의 곱을 구하는 프로그램을 작성 </a:t>
                </a:r>
                <a:endParaRPr lang="en-US" altLang="ko-KR" sz="1800" dirty="0">
                  <a:latin typeface="+mn-ea"/>
                  <a:ea typeface="+mn-ea"/>
                </a:endParaRPr>
              </a:p>
              <a:p>
                <a:pPr marL="914400" lvl="1" indent="-457200">
                  <a:lnSpc>
                    <a:spcPct val="100000"/>
                  </a:lnSpc>
                  <a:buFont typeface="+mj-ea"/>
                  <a:buAutoNum type="circleNumDbPlain"/>
                </a:pPr>
                <a:r>
                  <a:rPr lang="ko-KR" altLang="en-US" sz="1800" dirty="0">
                    <a:latin typeface="+mn-ea"/>
                    <a:ea typeface="+mn-ea"/>
                  </a:rPr>
                  <a:t>실행 시간 비교하여 전역 메모리와 공유 메모리의 성능을 비교</a:t>
                </a:r>
                <a:endParaRPr lang="en-US" altLang="ko-KR" sz="1800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74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89542-44B8-C563-8A95-F28F994F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GPU </a:t>
            </a:r>
            <a:r>
              <a:rPr lang="ko-KR" altLang="en-US" dirty="0"/>
              <a:t>메모리 계층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89AAD-54CF-147C-578A-B6EB2D6EE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메모리 계층</a:t>
            </a:r>
            <a:r>
              <a:rPr lang="en-US" altLang="ko-KR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altLang="ko-KR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빠를수록</a:t>
            </a:r>
            <a:r>
              <a:rPr lang="en-US" altLang="ko-KR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작고</a:t>
            </a:r>
            <a:r>
              <a:rPr lang="en-US" altLang="ko-KR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비</a:t>
            </a:r>
            <a:r>
              <a:rPr lang="ko-KR" alt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쌈</a:t>
            </a:r>
            <a:endParaRPr lang="ko-KR" altLang="en-US" sz="20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2BD3E65-335C-E782-C676-D2DD9D0574C6}"/>
              </a:ext>
            </a:extLst>
          </p:cNvPr>
          <p:cNvGrpSpPr/>
          <p:nvPr/>
        </p:nvGrpSpPr>
        <p:grpSpPr>
          <a:xfrm>
            <a:off x="6188166" y="1588072"/>
            <a:ext cx="5165633" cy="4768277"/>
            <a:chOff x="4709159" y="1005841"/>
            <a:chExt cx="4160520" cy="3840480"/>
          </a:xfrm>
        </p:grpSpPr>
        <p:sp>
          <p:nvSpPr>
            <p:cNvPr id="4" name="Shape 21">
              <a:extLst>
                <a:ext uri="{FF2B5EF4-FFF2-40B4-BE49-F238E27FC236}">
                  <a16:creationId xmlns:a16="http://schemas.microsoft.com/office/drawing/2014/main" id="{CE30BDAC-E3E4-9443-7D1D-EAF9F9B55817}"/>
                </a:ext>
              </a:extLst>
            </p:cNvPr>
            <p:cNvSpPr/>
            <p:nvPr/>
          </p:nvSpPr>
          <p:spPr>
            <a:xfrm>
              <a:off x="4709159" y="1005841"/>
              <a:ext cx="4160520" cy="3840480"/>
            </a:xfrm>
            <a:prstGeom prst="rect">
              <a:avLst/>
            </a:prstGeom>
            <a:solidFill>
              <a:srgbClr val="1A1A2E"/>
            </a:solidFill>
            <a:ln w="19050">
              <a:solidFill>
                <a:srgbClr val="1E88E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5" name="Text 22">
              <a:extLst>
                <a:ext uri="{FF2B5EF4-FFF2-40B4-BE49-F238E27FC236}">
                  <a16:creationId xmlns:a16="http://schemas.microsoft.com/office/drawing/2014/main" id="{E8C3AE9A-ECA4-88E0-72A9-B37E30415DFC}"/>
                </a:ext>
              </a:extLst>
            </p:cNvPr>
            <p:cNvSpPr/>
            <p:nvPr/>
          </p:nvSpPr>
          <p:spPr>
            <a:xfrm>
              <a:off x="4800600" y="1051560"/>
              <a:ext cx="3977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C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 Device</a:t>
              </a:r>
              <a:endParaRPr lang="en-US" sz="2000" dirty="0">
                <a:solidFill>
                  <a:srgbClr val="FFC000"/>
                </a:solidFill>
              </a:endParaRPr>
            </a:p>
          </p:txBody>
        </p:sp>
        <p:sp>
          <p:nvSpPr>
            <p:cNvPr id="6" name="Shape 23">
              <a:extLst>
                <a:ext uri="{FF2B5EF4-FFF2-40B4-BE49-F238E27FC236}">
                  <a16:creationId xmlns:a16="http://schemas.microsoft.com/office/drawing/2014/main" id="{D0730C66-C651-5D54-DAAB-D85D5EF3D838}"/>
                </a:ext>
              </a:extLst>
            </p:cNvPr>
            <p:cNvSpPr/>
            <p:nvPr/>
          </p:nvSpPr>
          <p:spPr>
            <a:xfrm>
              <a:off x="4892040" y="4069080"/>
              <a:ext cx="3794760" cy="594360"/>
            </a:xfrm>
            <a:prstGeom prst="rect">
              <a:avLst/>
            </a:prstGeom>
            <a:solidFill>
              <a:srgbClr val="4A148C"/>
            </a:solidFill>
            <a:ln w="12700">
              <a:solidFill>
                <a:srgbClr val="7B1FA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7" name="Text 24">
              <a:extLst>
                <a:ext uri="{FF2B5EF4-FFF2-40B4-BE49-F238E27FC236}">
                  <a16:creationId xmlns:a16="http://schemas.microsoft.com/office/drawing/2014/main" id="{7B12F8C5-A26E-FA2B-12B3-4D47E52F4E89}"/>
                </a:ext>
              </a:extLst>
            </p:cNvPr>
            <p:cNvSpPr/>
            <p:nvPr/>
          </p:nvSpPr>
          <p:spPr>
            <a:xfrm>
              <a:off x="4919472" y="4087368"/>
              <a:ext cx="3739896" cy="5577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Global Memory  (수 GB  |  ~500 cycles)</a:t>
              </a:r>
              <a:endParaRPr lang="en-US" dirty="0"/>
            </a:p>
          </p:txBody>
        </p:sp>
        <p:sp>
          <p:nvSpPr>
            <p:cNvPr id="8" name="Shape 25">
              <a:extLst>
                <a:ext uri="{FF2B5EF4-FFF2-40B4-BE49-F238E27FC236}">
                  <a16:creationId xmlns:a16="http://schemas.microsoft.com/office/drawing/2014/main" id="{5B404991-89B7-D66F-823E-99381364E9D3}"/>
                </a:ext>
              </a:extLst>
            </p:cNvPr>
            <p:cNvSpPr/>
            <p:nvPr/>
          </p:nvSpPr>
          <p:spPr>
            <a:xfrm>
              <a:off x="4892040" y="1463040"/>
              <a:ext cx="1783080" cy="1143000"/>
            </a:xfrm>
            <a:prstGeom prst="rect">
              <a:avLst/>
            </a:prstGeom>
            <a:solidFill>
              <a:srgbClr val="0F3460"/>
            </a:solidFill>
            <a:ln w="12700">
              <a:solidFill>
                <a:srgbClr val="1E88E5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9" name="Text 26">
              <a:extLst>
                <a:ext uri="{FF2B5EF4-FFF2-40B4-BE49-F238E27FC236}">
                  <a16:creationId xmlns:a16="http://schemas.microsoft.com/office/drawing/2014/main" id="{3E6E6758-D59C-12C6-E37B-525B2BBAD4A3}"/>
                </a:ext>
              </a:extLst>
            </p:cNvPr>
            <p:cNvSpPr/>
            <p:nvPr/>
          </p:nvSpPr>
          <p:spPr>
            <a:xfrm>
              <a:off x="4937760" y="1499616"/>
              <a:ext cx="16916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Streaming Multiprocessor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0" name="Shape 27">
              <a:extLst>
                <a:ext uri="{FF2B5EF4-FFF2-40B4-BE49-F238E27FC236}">
                  <a16:creationId xmlns:a16="http://schemas.microsoft.com/office/drawing/2014/main" id="{A20C4F9A-0626-9863-AA38-CF6B5DAEC025}"/>
                </a:ext>
              </a:extLst>
            </p:cNvPr>
            <p:cNvSpPr/>
            <p:nvPr/>
          </p:nvSpPr>
          <p:spPr>
            <a:xfrm>
              <a:off x="4956048" y="1737360"/>
              <a:ext cx="1655064" cy="329184"/>
            </a:xfrm>
            <a:prstGeom prst="rect">
              <a:avLst/>
            </a:prstGeom>
            <a:solidFill>
              <a:srgbClr val="0D47A1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1" name="Text 28">
              <a:extLst>
                <a:ext uri="{FF2B5EF4-FFF2-40B4-BE49-F238E27FC236}">
                  <a16:creationId xmlns:a16="http://schemas.microsoft.com/office/drawing/2014/main" id="{66685A72-929A-95BC-A7FE-98E093071EF3}"/>
                </a:ext>
              </a:extLst>
            </p:cNvPr>
            <p:cNvSpPr/>
            <p:nvPr/>
          </p:nvSpPr>
          <p:spPr>
            <a:xfrm>
              <a:off x="4974336" y="1746504"/>
              <a:ext cx="161848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Shared Memory  48 KB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2" name="Shape 29">
              <a:extLst>
                <a:ext uri="{FF2B5EF4-FFF2-40B4-BE49-F238E27FC236}">
                  <a16:creationId xmlns:a16="http://schemas.microsoft.com/office/drawing/2014/main" id="{C3E3BA2B-E1D6-7D3C-0363-AB13FCF51EE5}"/>
                </a:ext>
              </a:extLst>
            </p:cNvPr>
            <p:cNvSpPr/>
            <p:nvPr/>
          </p:nvSpPr>
          <p:spPr>
            <a:xfrm>
              <a:off x="4956048" y="2148840"/>
              <a:ext cx="749808" cy="34747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3" name="Text 30">
              <a:extLst>
                <a:ext uri="{FF2B5EF4-FFF2-40B4-BE49-F238E27FC236}">
                  <a16:creationId xmlns:a16="http://schemas.microsoft.com/office/drawing/2014/main" id="{06FB7BD7-0C93-D838-4DBD-6F96BE72D4C0}"/>
                </a:ext>
              </a:extLst>
            </p:cNvPr>
            <p:cNvSpPr/>
            <p:nvPr/>
          </p:nvSpPr>
          <p:spPr>
            <a:xfrm>
              <a:off x="4956048" y="2157984"/>
              <a:ext cx="7498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A5D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 T0</a:t>
              </a:r>
              <a:endParaRPr lang="en-US" sz="1100" dirty="0"/>
            </a:p>
          </p:txBody>
        </p:sp>
        <p:sp>
          <p:nvSpPr>
            <p:cNvPr id="14" name="Shape 31">
              <a:extLst>
                <a:ext uri="{FF2B5EF4-FFF2-40B4-BE49-F238E27FC236}">
                  <a16:creationId xmlns:a16="http://schemas.microsoft.com/office/drawing/2014/main" id="{72C9D192-D89B-CF48-5E44-9173F9B31DCA}"/>
                </a:ext>
              </a:extLst>
            </p:cNvPr>
            <p:cNvSpPr/>
            <p:nvPr/>
          </p:nvSpPr>
          <p:spPr>
            <a:xfrm>
              <a:off x="5797296" y="2148840"/>
              <a:ext cx="749808" cy="34747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5" name="Text 32">
              <a:extLst>
                <a:ext uri="{FF2B5EF4-FFF2-40B4-BE49-F238E27FC236}">
                  <a16:creationId xmlns:a16="http://schemas.microsoft.com/office/drawing/2014/main" id="{6E621D54-91F8-6BC1-4CD8-95593B3AAC95}"/>
                </a:ext>
              </a:extLst>
            </p:cNvPr>
            <p:cNvSpPr/>
            <p:nvPr/>
          </p:nvSpPr>
          <p:spPr>
            <a:xfrm>
              <a:off x="5797296" y="2157984"/>
              <a:ext cx="7498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A5D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 T1</a:t>
              </a:r>
              <a:endParaRPr lang="en-US" sz="1100" dirty="0"/>
            </a:p>
          </p:txBody>
        </p:sp>
        <p:sp>
          <p:nvSpPr>
            <p:cNvPr id="16" name="Shape 33">
              <a:extLst>
                <a:ext uri="{FF2B5EF4-FFF2-40B4-BE49-F238E27FC236}">
                  <a16:creationId xmlns:a16="http://schemas.microsoft.com/office/drawing/2014/main" id="{42A176E0-B6CE-7FE8-2003-115622C504FA}"/>
                </a:ext>
              </a:extLst>
            </p:cNvPr>
            <p:cNvSpPr/>
            <p:nvPr/>
          </p:nvSpPr>
          <p:spPr>
            <a:xfrm>
              <a:off x="6812280" y="1463040"/>
              <a:ext cx="1783080" cy="1143000"/>
            </a:xfrm>
            <a:prstGeom prst="rect">
              <a:avLst/>
            </a:prstGeom>
            <a:solidFill>
              <a:srgbClr val="0F3460"/>
            </a:solidFill>
            <a:ln w="12700">
              <a:solidFill>
                <a:srgbClr val="1E88E5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7" name="Text 34">
              <a:extLst>
                <a:ext uri="{FF2B5EF4-FFF2-40B4-BE49-F238E27FC236}">
                  <a16:creationId xmlns:a16="http://schemas.microsoft.com/office/drawing/2014/main" id="{A531F88C-84D5-4246-A4EB-9BEE57AAD497}"/>
                </a:ext>
              </a:extLst>
            </p:cNvPr>
            <p:cNvSpPr/>
            <p:nvPr/>
          </p:nvSpPr>
          <p:spPr>
            <a:xfrm>
              <a:off x="6858000" y="1499616"/>
              <a:ext cx="16916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Streaming Multiprocessor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8" name="Shape 35">
              <a:extLst>
                <a:ext uri="{FF2B5EF4-FFF2-40B4-BE49-F238E27FC236}">
                  <a16:creationId xmlns:a16="http://schemas.microsoft.com/office/drawing/2014/main" id="{71026D36-A0A5-F991-DFC6-87EF26295A68}"/>
                </a:ext>
              </a:extLst>
            </p:cNvPr>
            <p:cNvSpPr/>
            <p:nvPr/>
          </p:nvSpPr>
          <p:spPr>
            <a:xfrm>
              <a:off x="6876288" y="1737360"/>
              <a:ext cx="1655064" cy="329184"/>
            </a:xfrm>
            <a:prstGeom prst="rect">
              <a:avLst/>
            </a:prstGeom>
            <a:solidFill>
              <a:srgbClr val="0D47A1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9" name="Text 36">
              <a:extLst>
                <a:ext uri="{FF2B5EF4-FFF2-40B4-BE49-F238E27FC236}">
                  <a16:creationId xmlns:a16="http://schemas.microsoft.com/office/drawing/2014/main" id="{286FB07C-35C0-7252-1FD7-DF64E8EF0C37}"/>
                </a:ext>
              </a:extLst>
            </p:cNvPr>
            <p:cNvSpPr/>
            <p:nvPr/>
          </p:nvSpPr>
          <p:spPr>
            <a:xfrm>
              <a:off x="6894576" y="1746504"/>
              <a:ext cx="161848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Shared Memory  48 KB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20" name="Shape 37">
              <a:extLst>
                <a:ext uri="{FF2B5EF4-FFF2-40B4-BE49-F238E27FC236}">
                  <a16:creationId xmlns:a16="http://schemas.microsoft.com/office/drawing/2014/main" id="{545D56DE-E7E2-9254-3428-D4930132569F}"/>
                </a:ext>
              </a:extLst>
            </p:cNvPr>
            <p:cNvSpPr/>
            <p:nvPr/>
          </p:nvSpPr>
          <p:spPr>
            <a:xfrm>
              <a:off x="6876288" y="2148840"/>
              <a:ext cx="749808" cy="34747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1" name="Text 38">
              <a:extLst>
                <a:ext uri="{FF2B5EF4-FFF2-40B4-BE49-F238E27FC236}">
                  <a16:creationId xmlns:a16="http://schemas.microsoft.com/office/drawing/2014/main" id="{06227442-F426-59C8-3AC6-22DF6E9C6921}"/>
                </a:ext>
              </a:extLst>
            </p:cNvPr>
            <p:cNvSpPr/>
            <p:nvPr/>
          </p:nvSpPr>
          <p:spPr>
            <a:xfrm>
              <a:off x="6876288" y="2157984"/>
              <a:ext cx="7498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A5D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 T0</a:t>
              </a:r>
              <a:endParaRPr lang="en-US" sz="1100" dirty="0"/>
            </a:p>
          </p:txBody>
        </p:sp>
        <p:sp>
          <p:nvSpPr>
            <p:cNvPr id="22" name="Shape 39">
              <a:extLst>
                <a:ext uri="{FF2B5EF4-FFF2-40B4-BE49-F238E27FC236}">
                  <a16:creationId xmlns:a16="http://schemas.microsoft.com/office/drawing/2014/main" id="{4F32D92C-DF79-9CB5-82DE-55978CF1B3A1}"/>
                </a:ext>
              </a:extLst>
            </p:cNvPr>
            <p:cNvSpPr/>
            <p:nvPr/>
          </p:nvSpPr>
          <p:spPr>
            <a:xfrm>
              <a:off x="7717536" y="2148840"/>
              <a:ext cx="749808" cy="34747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3" name="Text 40">
              <a:extLst>
                <a:ext uri="{FF2B5EF4-FFF2-40B4-BE49-F238E27FC236}">
                  <a16:creationId xmlns:a16="http://schemas.microsoft.com/office/drawing/2014/main" id="{1C33C75A-DB12-0CA5-1C8F-57BEECE254F4}"/>
                </a:ext>
              </a:extLst>
            </p:cNvPr>
            <p:cNvSpPr/>
            <p:nvPr/>
          </p:nvSpPr>
          <p:spPr>
            <a:xfrm>
              <a:off x="7717536" y="2157984"/>
              <a:ext cx="7498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A5D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 T1</a:t>
              </a:r>
              <a:endParaRPr lang="en-US" sz="1100" dirty="0"/>
            </a:p>
          </p:txBody>
        </p:sp>
        <p:sp>
          <p:nvSpPr>
            <p:cNvPr id="24" name="Shape 41">
              <a:extLst>
                <a:ext uri="{FF2B5EF4-FFF2-40B4-BE49-F238E27FC236}">
                  <a16:creationId xmlns:a16="http://schemas.microsoft.com/office/drawing/2014/main" id="{71D3574C-90BC-8551-68A7-FD18EC7F6026}"/>
                </a:ext>
              </a:extLst>
            </p:cNvPr>
            <p:cNvSpPr/>
            <p:nvPr/>
          </p:nvSpPr>
          <p:spPr>
            <a:xfrm>
              <a:off x="4892040" y="2743200"/>
              <a:ext cx="1783080" cy="1143000"/>
            </a:xfrm>
            <a:prstGeom prst="rect">
              <a:avLst/>
            </a:prstGeom>
            <a:solidFill>
              <a:srgbClr val="0F3460"/>
            </a:solidFill>
            <a:ln w="12700">
              <a:solidFill>
                <a:srgbClr val="1E88E5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5" name="Text 42">
              <a:extLst>
                <a:ext uri="{FF2B5EF4-FFF2-40B4-BE49-F238E27FC236}">
                  <a16:creationId xmlns:a16="http://schemas.microsoft.com/office/drawing/2014/main" id="{D0012AB8-0C9C-4313-9EE7-26F42FA89222}"/>
                </a:ext>
              </a:extLst>
            </p:cNvPr>
            <p:cNvSpPr/>
            <p:nvPr/>
          </p:nvSpPr>
          <p:spPr>
            <a:xfrm>
              <a:off x="4937760" y="2779776"/>
              <a:ext cx="16916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Streaming Multiprocessor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6" name="Shape 43">
              <a:extLst>
                <a:ext uri="{FF2B5EF4-FFF2-40B4-BE49-F238E27FC236}">
                  <a16:creationId xmlns:a16="http://schemas.microsoft.com/office/drawing/2014/main" id="{47F52C76-6155-2C1A-2F15-7A9BBB52ACB6}"/>
                </a:ext>
              </a:extLst>
            </p:cNvPr>
            <p:cNvSpPr/>
            <p:nvPr/>
          </p:nvSpPr>
          <p:spPr>
            <a:xfrm>
              <a:off x="4956048" y="3017520"/>
              <a:ext cx="1655064" cy="329184"/>
            </a:xfrm>
            <a:prstGeom prst="rect">
              <a:avLst/>
            </a:prstGeom>
            <a:solidFill>
              <a:srgbClr val="0D47A1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ko-KR" altLang="en-US" sz="3200">
                <a:solidFill>
                  <a:schemeClr val="bg1"/>
                </a:solidFill>
              </a:endParaRPr>
            </a:p>
          </p:txBody>
        </p:sp>
        <p:sp>
          <p:nvSpPr>
            <p:cNvPr id="27" name="Text 44">
              <a:extLst>
                <a:ext uri="{FF2B5EF4-FFF2-40B4-BE49-F238E27FC236}">
                  <a16:creationId xmlns:a16="http://schemas.microsoft.com/office/drawing/2014/main" id="{B4FD248B-DC26-F14A-470E-FAF207C357AA}"/>
                </a:ext>
              </a:extLst>
            </p:cNvPr>
            <p:cNvSpPr/>
            <p:nvPr/>
          </p:nvSpPr>
          <p:spPr>
            <a:xfrm>
              <a:off x="4974336" y="3026664"/>
              <a:ext cx="161848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Shared Memory  48 KB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28" name="Shape 45">
              <a:extLst>
                <a:ext uri="{FF2B5EF4-FFF2-40B4-BE49-F238E27FC236}">
                  <a16:creationId xmlns:a16="http://schemas.microsoft.com/office/drawing/2014/main" id="{5F81D2EE-FD3E-7468-A99E-CC8DAC33712D}"/>
                </a:ext>
              </a:extLst>
            </p:cNvPr>
            <p:cNvSpPr/>
            <p:nvPr/>
          </p:nvSpPr>
          <p:spPr>
            <a:xfrm>
              <a:off x="4956048" y="3429000"/>
              <a:ext cx="749808" cy="34747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9" name="Text 46">
              <a:extLst>
                <a:ext uri="{FF2B5EF4-FFF2-40B4-BE49-F238E27FC236}">
                  <a16:creationId xmlns:a16="http://schemas.microsoft.com/office/drawing/2014/main" id="{4B85C5E0-B3A0-5AD9-6A5A-9FB80682C5AF}"/>
                </a:ext>
              </a:extLst>
            </p:cNvPr>
            <p:cNvSpPr/>
            <p:nvPr/>
          </p:nvSpPr>
          <p:spPr>
            <a:xfrm>
              <a:off x="4956048" y="3438144"/>
              <a:ext cx="7498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A5D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 T0</a:t>
              </a:r>
              <a:endParaRPr lang="en-US" sz="1100" dirty="0"/>
            </a:p>
          </p:txBody>
        </p:sp>
        <p:sp>
          <p:nvSpPr>
            <p:cNvPr id="30" name="Shape 47">
              <a:extLst>
                <a:ext uri="{FF2B5EF4-FFF2-40B4-BE49-F238E27FC236}">
                  <a16:creationId xmlns:a16="http://schemas.microsoft.com/office/drawing/2014/main" id="{39BF401F-28F6-7372-3EC4-F63FFB0716CA}"/>
                </a:ext>
              </a:extLst>
            </p:cNvPr>
            <p:cNvSpPr/>
            <p:nvPr/>
          </p:nvSpPr>
          <p:spPr>
            <a:xfrm>
              <a:off x="5797296" y="3429000"/>
              <a:ext cx="749808" cy="34747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31" name="Text 48">
              <a:extLst>
                <a:ext uri="{FF2B5EF4-FFF2-40B4-BE49-F238E27FC236}">
                  <a16:creationId xmlns:a16="http://schemas.microsoft.com/office/drawing/2014/main" id="{E3EBB7A2-82AB-373D-0AF8-37A5E411509F}"/>
                </a:ext>
              </a:extLst>
            </p:cNvPr>
            <p:cNvSpPr/>
            <p:nvPr/>
          </p:nvSpPr>
          <p:spPr>
            <a:xfrm>
              <a:off x="5797296" y="3438144"/>
              <a:ext cx="7498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A5D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 T1</a:t>
              </a:r>
              <a:endParaRPr lang="en-US" sz="1100" dirty="0"/>
            </a:p>
          </p:txBody>
        </p:sp>
        <p:sp>
          <p:nvSpPr>
            <p:cNvPr id="32" name="Shape 49">
              <a:extLst>
                <a:ext uri="{FF2B5EF4-FFF2-40B4-BE49-F238E27FC236}">
                  <a16:creationId xmlns:a16="http://schemas.microsoft.com/office/drawing/2014/main" id="{C0B1614E-D752-0D9C-D6A0-C16976CF0208}"/>
                </a:ext>
              </a:extLst>
            </p:cNvPr>
            <p:cNvSpPr/>
            <p:nvPr/>
          </p:nvSpPr>
          <p:spPr>
            <a:xfrm>
              <a:off x="6812280" y="2743200"/>
              <a:ext cx="1783080" cy="1143000"/>
            </a:xfrm>
            <a:prstGeom prst="rect">
              <a:avLst/>
            </a:prstGeom>
            <a:solidFill>
              <a:srgbClr val="0F3460"/>
            </a:solidFill>
            <a:ln w="12700">
              <a:solidFill>
                <a:srgbClr val="1E88E5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33" name="Text 50">
              <a:extLst>
                <a:ext uri="{FF2B5EF4-FFF2-40B4-BE49-F238E27FC236}">
                  <a16:creationId xmlns:a16="http://schemas.microsoft.com/office/drawing/2014/main" id="{2D0AEA75-9DEC-AE5E-D035-00F46D5BA46B}"/>
                </a:ext>
              </a:extLst>
            </p:cNvPr>
            <p:cNvSpPr/>
            <p:nvPr/>
          </p:nvSpPr>
          <p:spPr>
            <a:xfrm>
              <a:off x="6858000" y="2779776"/>
              <a:ext cx="16916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Streaming Multiprocessor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Shape 51">
              <a:extLst>
                <a:ext uri="{FF2B5EF4-FFF2-40B4-BE49-F238E27FC236}">
                  <a16:creationId xmlns:a16="http://schemas.microsoft.com/office/drawing/2014/main" id="{0E3AB4C0-2373-8232-C787-5E0B02612E5E}"/>
                </a:ext>
              </a:extLst>
            </p:cNvPr>
            <p:cNvSpPr/>
            <p:nvPr/>
          </p:nvSpPr>
          <p:spPr>
            <a:xfrm>
              <a:off x="6876288" y="3017520"/>
              <a:ext cx="1655064" cy="329184"/>
            </a:xfrm>
            <a:prstGeom prst="rect">
              <a:avLst/>
            </a:prstGeom>
            <a:solidFill>
              <a:srgbClr val="0D47A1"/>
            </a:solidFill>
            <a:ln w="12700">
              <a:solidFill>
                <a:srgbClr val="1565C0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35" name="Text 52">
              <a:extLst>
                <a:ext uri="{FF2B5EF4-FFF2-40B4-BE49-F238E27FC236}">
                  <a16:creationId xmlns:a16="http://schemas.microsoft.com/office/drawing/2014/main" id="{DE663485-7AB4-609C-A7CD-9496D24E1FA7}"/>
                </a:ext>
              </a:extLst>
            </p:cNvPr>
            <p:cNvSpPr/>
            <p:nvPr/>
          </p:nvSpPr>
          <p:spPr>
            <a:xfrm>
              <a:off x="6894576" y="3026664"/>
              <a:ext cx="161848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Shared Memory  48 KB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36" name="Shape 53">
              <a:extLst>
                <a:ext uri="{FF2B5EF4-FFF2-40B4-BE49-F238E27FC236}">
                  <a16:creationId xmlns:a16="http://schemas.microsoft.com/office/drawing/2014/main" id="{213DF416-A3EF-BACE-2B36-28378A3C9B54}"/>
                </a:ext>
              </a:extLst>
            </p:cNvPr>
            <p:cNvSpPr/>
            <p:nvPr/>
          </p:nvSpPr>
          <p:spPr>
            <a:xfrm>
              <a:off x="6876288" y="3429000"/>
              <a:ext cx="749808" cy="34747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37" name="Text 54">
              <a:extLst>
                <a:ext uri="{FF2B5EF4-FFF2-40B4-BE49-F238E27FC236}">
                  <a16:creationId xmlns:a16="http://schemas.microsoft.com/office/drawing/2014/main" id="{9443B6B5-ED41-7FD9-182E-4519A8933967}"/>
                </a:ext>
              </a:extLst>
            </p:cNvPr>
            <p:cNvSpPr/>
            <p:nvPr/>
          </p:nvSpPr>
          <p:spPr>
            <a:xfrm>
              <a:off x="6876288" y="3438144"/>
              <a:ext cx="7498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A5D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 T0</a:t>
              </a:r>
              <a:endParaRPr lang="en-US" sz="1100" dirty="0"/>
            </a:p>
          </p:txBody>
        </p:sp>
        <p:sp>
          <p:nvSpPr>
            <p:cNvPr id="38" name="Shape 55">
              <a:extLst>
                <a:ext uri="{FF2B5EF4-FFF2-40B4-BE49-F238E27FC236}">
                  <a16:creationId xmlns:a16="http://schemas.microsoft.com/office/drawing/2014/main" id="{D3DEC461-CE6A-34BA-EA0C-61966DB1459F}"/>
                </a:ext>
              </a:extLst>
            </p:cNvPr>
            <p:cNvSpPr/>
            <p:nvPr/>
          </p:nvSpPr>
          <p:spPr>
            <a:xfrm>
              <a:off x="7717536" y="3429000"/>
              <a:ext cx="749808" cy="34747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39" name="Text 56">
              <a:extLst>
                <a:ext uri="{FF2B5EF4-FFF2-40B4-BE49-F238E27FC236}">
                  <a16:creationId xmlns:a16="http://schemas.microsoft.com/office/drawing/2014/main" id="{FD0AEC3D-1386-2213-26B1-6E086188FCE0}"/>
                </a:ext>
              </a:extLst>
            </p:cNvPr>
            <p:cNvSpPr/>
            <p:nvPr/>
          </p:nvSpPr>
          <p:spPr>
            <a:xfrm>
              <a:off x="7717536" y="3438144"/>
              <a:ext cx="7498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A5D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 T1</a:t>
              </a:r>
              <a:endParaRPr lang="en-US" sz="1100" dirty="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87417C6-5670-1808-9478-3F77858A0841}"/>
              </a:ext>
            </a:extLst>
          </p:cNvPr>
          <p:cNvGrpSpPr/>
          <p:nvPr/>
        </p:nvGrpSpPr>
        <p:grpSpPr>
          <a:xfrm>
            <a:off x="838200" y="2019471"/>
            <a:ext cx="4843214" cy="4336878"/>
            <a:chOff x="1258263" y="2267366"/>
            <a:chExt cx="4023360" cy="3602736"/>
          </a:xfrm>
        </p:grpSpPr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73001C42-174C-572A-5DF3-3750E0CBF8D6}"/>
                </a:ext>
              </a:extLst>
            </p:cNvPr>
            <p:cNvSpPr/>
            <p:nvPr/>
          </p:nvSpPr>
          <p:spPr>
            <a:xfrm>
              <a:off x="1258263" y="2267366"/>
              <a:ext cx="4023360" cy="1078992"/>
            </a:xfrm>
            <a:prstGeom prst="rect">
              <a:avLst/>
            </a:prstGeom>
            <a:solidFill>
              <a:srgbClr val="E8F5E9"/>
            </a:solidFill>
            <a:ln w="19050">
              <a:solidFill>
                <a:srgbClr val="1B5E2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F7E1C884-8C5C-32CB-8FFB-0DD61BA1263F}"/>
                </a:ext>
              </a:extLst>
            </p:cNvPr>
            <p:cNvSpPr/>
            <p:nvPr/>
          </p:nvSpPr>
          <p:spPr>
            <a:xfrm>
              <a:off x="1258263" y="2267366"/>
              <a:ext cx="91440" cy="1078992"/>
            </a:xfrm>
            <a:prstGeom prst="rect">
              <a:avLst/>
            </a:prstGeom>
            <a:solidFill>
              <a:srgbClr val="1B5E20"/>
            </a:solidFill>
            <a:ln w="12700">
              <a:solidFill>
                <a:srgbClr val="1B5E20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1D8A811E-F7B6-AB64-FC93-351CCF1C61D8}"/>
                </a:ext>
              </a:extLst>
            </p:cNvPr>
            <p:cNvSpPr/>
            <p:nvPr/>
          </p:nvSpPr>
          <p:spPr>
            <a:xfrm>
              <a:off x="1441143" y="2358806"/>
              <a:ext cx="3749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5E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Registers</a:t>
              </a:r>
              <a:endParaRPr lang="en-US" sz="2000" dirty="0"/>
            </a:p>
          </p:txBody>
        </p:sp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6E8A8DEA-48C0-CAA9-7A73-304B3E996746}"/>
                </a:ext>
              </a:extLst>
            </p:cNvPr>
            <p:cNvSpPr/>
            <p:nvPr/>
          </p:nvSpPr>
          <p:spPr>
            <a:xfrm>
              <a:off x="1441143" y="2742854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4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범위: 스레드당 (Per Thread)</a:t>
              </a:r>
              <a:endParaRPr lang="en-US" sz="14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B7C918A7-C54F-0C2F-54C9-43EA2968213F}"/>
                </a:ext>
              </a:extLst>
            </p:cNvPr>
            <p:cNvSpPr/>
            <p:nvPr/>
          </p:nvSpPr>
          <p:spPr>
            <a:xfrm>
              <a:off x="1441143" y="2998886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4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크기: ≈ 256 KB / SM</a:t>
              </a:r>
              <a:endParaRPr lang="en-US" sz="1400" dirty="0"/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C6EEA353-F680-F121-44B3-CED46D90213B}"/>
                </a:ext>
              </a:extLst>
            </p:cNvPr>
            <p:cNvSpPr/>
            <p:nvPr/>
          </p:nvSpPr>
          <p:spPr>
            <a:xfrm>
              <a:off x="3498543" y="2742854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5E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접근 속도: ~1 cycle</a:t>
              </a:r>
              <a:endParaRPr lang="en-US" sz="1400" dirty="0"/>
            </a:p>
          </p:txBody>
        </p:sp>
        <p:sp>
          <p:nvSpPr>
            <p:cNvPr id="47" name="Shape 9">
              <a:extLst>
                <a:ext uri="{FF2B5EF4-FFF2-40B4-BE49-F238E27FC236}">
                  <a16:creationId xmlns:a16="http://schemas.microsoft.com/office/drawing/2014/main" id="{70AF0516-48D3-6FDD-7FC9-AC4B5798B794}"/>
                </a:ext>
              </a:extLst>
            </p:cNvPr>
            <p:cNvSpPr/>
            <p:nvPr/>
          </p:nvSpPr>
          <p:spPr>
            <a:xfrm>
              <a:off x="1258263" y="3529238"/>
              <a:ext cx="4023360" cy="1078992"/>
            </a:xfrm>
            <a:prstGeom prst="rect">
              <a:avLst/>
            </a:prstGeom>
            <a:solidFill>
              <a:srgbClr val="E3F2FD"/>
            </a:solidFill>
            <a:ln w="19050">
              <a:solidFill>
                <a:srgbClr val="0D47A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8" name="Shape 10">
              <a:extLst>
                <a:ext uri="{FF2B5EF4-FFF2-40B4-BE49-F238E27FC236}">
                  <a16:creationId xmlns:a16="http://schemas.microsoft.com/office/drawing/2014/main" id="{D0B56CF5-CBC1-DE4F-EF09-7415CCEEC13E}"/>
                </a:ext>
              </a:extLst>
            </p:cNvPr>
            <p:cNvSpPr/>
            <p:nvPr/>
          </p:nvSpPr>
          <p:spPr>
            <a:xfrm>
              <a:off x="1258263" y="3529238"/>
              <a:ext cx="91440" cy="1078992"/>
            </a:xfrm>
            <a:prstGeom prst="rect">
              <a:avLst/>
            </a:prstGeom>
            <a:solidFill>
              <a:srgbClr val="0D47A1"/>
            </a:solidFill>
            <a:ln w="12700">
              <a:solidFill>
                <a:srgbClr val="0D47A1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9" name="Text 11">
              <a:extLst>
                <a:ext uri="{FF2B5EF4-FFF2-40B4-BE49-F238E27FC236}">
                  <a16:creationId xmlns:a16="http://schemas.microsoft.com/office/drawing/2014/main" id="{0072761A-1C19-15CC-9867-6E0F1E9813A4}"/>
                </a:ext>
              </a:extLst>
            </p:cNvPr>
            <p:cNvSpPr/>
            <p:nvPr/>
          </p:nvSpPr>
          <p:spPr>
            <a:xfrm>
              <a:off x="1441143" y="3620678"/>
              <a:ext cx="3749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D47A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Shared Memory</a:t>
              </a:r>
              <a:endParaRPr lang="en-US" sz="2000" dirty="0"/>
            </a:p>
          </p:txBody>
        </p:sp>
        <p:sp>
          <p:nvSpPr>
            <p:cNvPr id="50" name="Text 12">
              <a:extLst>
                <a:ext uri="{FF2B5EF4-FFF2-40B4-BE49-F238E27FC236}">
                  <a16:creationId xmlns:a16="http://schemas.microsoft.com/office/drawing/2014/main" id="{F3BE5A79-A7C4-534B-3A86-F360A97FE956}"/>
                </a:ext>
              </a:extLst>
            </p:cNvPr>
            <p:cNvSpPr/>
            <p:nvPr/>
          </p:nvSpPr>
          <p:spPr>
            <a:xfrm>
              <a:off x="1441143" y="4004726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4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범위: 블록당 (Per Block)</a:t>
              </a:r>
              <a:endParaRPr lang="en-US" sz="1400" dirty="0"/>
            </a:p>
          </p:txBody>
        </p:sp>
        <p:sp>
          <p:nvSpPr>
            <p:cNvPr id="51" name="Text 13">
              <a:extLst>
                <a:ext uri="{FF2B5EF4-FFF2-40B4-BE49-F238E27FC236}">
                  <a16:creationId xmlns:a16="http://schemas.microsoft.com/office/drawing/2014/main" id="{D56180F3-4FB9-8244-B330-446A86FB3D69}"/>
                </a:ext>
              </a:extLst>
            </p:cNvPr>
            <p:cNvSpPr/>
            <p:nvPr/>
          </p:nvSpPr>
          <p:spPr>
            <a:xfrm>
              <a:off x="1441143" y="4260758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4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크기: 48 KB / Block</a:t>
              </a:r>
              <a:endParaRPr lang="en-US" sz="1400" dirty="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0E6A531F-C4E2-E8E7-5326-4CBC1B270093}"/>
                </a:ext>
              </a:extLst>
            </p:cNvPr>
            <p:cNvSpPr/>
            <p:nvPr/>
          </p:nvSpPr>
          <p:spPr>
            <a:xfrm>
              <a:off x="3498543" y="4004726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D47A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접근 속도: ~5 cycles</a:t>
              </a:r>
              <a:endParaRPr lang="en-US" sz="1400" dirty="0"/>
            </a:p>
          </p:txBody>
        </p:sp>
        <p:sp>
          <p:nvSpPr>
            <p:cNvPr id="53" name="Shape 15">
              <a:extLst>
                <a:ext uri="{FF2B5EF4-FFF2-40B4-BE49-F238E27FC236}">
                  <a16:creationId xmlns:a16="http://schemas.microsoft.com/office/drawing/2014/main" id="{B4AF68B5-E721-581E-2057-D785FB2C59E4}"/>
                </a:ext>
              </a:extLst>
            </p:cNvPr>
            <p:cNvSpPr/>
            <p:nvPr/>
          </p:nvSpPr>
          <p:spPr>
            <a:xfrm>
              <a:off x="1258263" y="4791110"/>
              <a:ext cx="4023360" cy="1078992"/>
            </a:xfrm>
            <a:prstGeom prst="rect">
              <a:avLst/>
            </a:prstGeom>
            <a:solidFill>
              <a:srgbClr val="F3E5F5"/>
            </a:solidFill>
            <a:ln w="19050">
              <a:solidFill>
                <a:srgbClr val="4A148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54" name="Shape 16">
              <a:extLst>
                <a:ext uri="{FF2B5EF4-FFF2-40B4-BE49-F238E27FC236}">
                  <a16:creationId xmlns:a16="http://schemas.microsoft.com/office/drawing/2014/main" id="{22FBF4BC-AA69-0F99-2944-F5CF925FF809}"/>
                </a:ext>
              </a:extLst>
            </p:cNvPr>
            <p:cNvSpPr/>
            <p:nvPr/>
          </p:nvSpPr>
          <p:spPr>
            <a:xfrm>
              <a:off x="1258263" y="4791110"/>
              <a:ext cx="91440" cy="1078992"/>
            </a:xfrm>
            <a:prstGeom prst="rect">
              <a:avLst/>
            </a:prstGeom>
            <a:solidFill>
              <a:srgbClr val="4A148C"/>
            </a:solidFill>
            <a:ln w="12700">
              <a:solidFill>
                <a:srgbClr val="4A148C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F5FE2018-C44A-14FB-8494-E859C5B0B998}"/>
                </a:ext>
              </a:extLst>
            </p:cNvPr>
            <p:cNvSpPr/>
            <p:nvPr/>
          </p:nvSpPr>
          <p:spPr>
            <a:xfrm>
              <a:off x="1441143" y="4882550"/>
              <a:ext cx="37490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4A148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Global Memory</a:t>
              </a:r>
              <a:endParaRPr lang="en-US" sz="2000" dirty="0"/>
            </a:p>
          </p:txBody>
        </p:sp>
        <p:sp>
          <p:nvSpPr>
            <p:cNvPr id="56" name="Text 18">
              <a:extLst>
                <a:ext uri="{FF2B5EF4-FFF2-40B4-BE49-F238E27FC236}">
                  <a16:creationId xmlns:a16="http://schemas.microsoft.com/office/drawing/2014/main" id="{32BBF676-9220-4F2E-0094-289C6CFE4FFF}"/>
                </a:ext>
              </a:extLst>
            </p:cNvPr>
            <p:cNvSpPr/>
            <p:nvPr/>
          </p:nvSpPr>
          <p:spPr>
            <a:xfrm>
              <a:off x="1441143" y="5266598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4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범위: 전체 GPU (All Threads)</a:t>
              </a:r>
              <a:endParaRPr lang="en-US" sz="1400" dirty="0"/>
            </a:p>
          </p:txBody>
        </p:sp>
        <p:sp>
          <p:nvSpPr>
            <p:cNvPr id="57" name="Text 19">
              <a:extLst>
                <a:ext uri="{FF2B5EF4-FFF2-40B4-BE49-F238E27FC236}">
                  <a16:creationId xmlns:a16="http://schemas.microsoft.com/office/drawing/2014/main" id="{22708FBE-2A1D-35B1-9E44-D45499148DA9}"/>
                </a:ext>
              </a:extLst>
            </p:cNvPr>
            <p:cNvSpPr/>
            <p:nvPr/>
          </p:nvSpPr>
          <p:spPr>
            <a:xfrm>
              <a:off x="1441143" y="5522630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4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크기: 수 GB</a:t>
              </a:r>
              <a:endParaRPr lang="en-US" sz="1400" dirty="0"/>
            </a:p>
          </p:txBody>
        </p:sp>
        <p:sp>
          <p:nvSpPr>
            <p:cNvPr id="58" name="Text 20">
              <a:extLst>
                <a:ext uri="{FF2B5EF4-FFF2-40B4-BE49-F238E27FC236}">
                  <a16:creationId xmlns:a16="http://schemas.microsoft.com/office/drawing/2014/main" id="{29916A41-9DF3-3DCF-3F31-1369EC5ECC9E}"/>
                </a:ext>
              </a:extLst>
            </p:cNvPr>
            <p:cNvSpPr/>
            <p:nvPr/>
          </p:nvSpPr>
          <p:spPr>
            <a:xfrm>
              <a:off x="3498543" y="5266598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4A148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접근 속도: ~500 cycles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94720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F820A-5904-4925-B115-91892BE3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</a:rPr>
              <a:t>전역 </a:t>
            </a:r>
            <a:r>
              <a:rPr lang="ko-KR" altLang="en-US" dirty="0"/>
              <a:t>메모리를 이용한 행렬 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9D33F-BA85-47E5-85CE-564178EE0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CEACD51-4B3A-4065-B1B7-C9045BADD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8072"/>
            <a:ext cx="7515225" cy="431482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37130CF6-631F-49F9-8E56-5AB8863B173A}"/>
              </a:ext>
            </a:extLst>
          </p:cNvPr>
          <p:cNvGrpSpPr/>
          <p:nvPr/>
        </p:nvGrpSpPr>
        <p:grpSpPr>
          <a:xfrm>
            <a:off x="7211223" y="2382625"/>
            <a:ext cx="4142577" cy="3973724"/>
            <a:chOff x="5688696" y="2539306"/>
            <a:chExt cx="4142577" cy="3973724"/>
          </a:xfrm>
        </p:grpSpPr>
        <p:sp>
          <p:nvSpPr>
            <p:cNvPr id="5" name="직사각형 16">
              <a:extLst>
                <a:ext uri="{FF2B5EF4-FFF2-40B4-BE49-F238E27FC236}">
                  <a16:creationId xmlns:a16="http://schemas.microsoft.com/office/drawing/2014/main" id="{DFD4D05B-2437-4028-A72E-BC1B0150E2B9}"/>
                </a:ext>
              </a:extLst>
            </p:cNvPr>
            <p:cNvSpPr/>
            <p:nvPr/>
          </p:nvSpPr>
          <p:spPr>
            <a:xfrm>
              <a:off x="8064502" y="3128784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17">
              <a:extLst>
                <a:ext uri="{FF2B5EF4-FFF2-40B4-BE49-F238E27FC236}">
                  <a16:creationId xmlns:a16="http://schemas.microsoft.com/office/drawing/2014/main" id="{7AD58EB3-10C9-4F1E-99A4-8D53014F063D}"/>
                </a:ext>
              </a:extLst>
            </p:cNvPr>
            <p:cNvSpPr/>
            <p:nvPr/>
          </p:nvSpPr>
          <p:spPr>
            <a:xfrm>
              <a:off x="8653425" y="3128784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18">
              <a:extLst>
                <a:ext uri="{FF2B5EF4-FFF2-40B4-BE49-F238E27FC236}">
                  <a16:creationId xmlns:a16="http://schemas.microsoft.com/office/drawing/2014/main" id="{CE0B8442-5354-446C-918D-E70A1ABFE9F2}"/>
                </a:ext>
              </a:extLst>
            </p:cNvPr>
            <p:cNvSpPr/>
            <p:nvPr/>
          </p:nvSpPr>
          <p:spPr>
            <a:xfrm>
              <a:off x="9242348" y="3128784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19">
              <a:extLst>
                <a:ext uri="{FF2B5EF4-FFF2-40B4-BE49-F238E27FC236}">
                  <a16:creationId xmlns:a16="http://schemas.microsoft.com/office/drawing/2014/main" id="{7BD7A6CF-D621-440A-AB8D-AF664DD88B33}"/>
                </a:ext>
              </a:extLst>
            </p:cNvPr>
            <p:cNvSpPr/>
            <p:nvPr/>
          </p:nvSpPr>
          <p:spPr>
            <a:xfrm>
              <a:off x="8064502" y="3679722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20">
              <a:extLst>
                <a:ext uri="{FF2B5EF4-FFF2-40B4-BE49-F238E27FC236}">
                  <a16:creationId xmlns:a16="http://schemas.microsoft.com/office/drawing/2014/main" id="{00289F25-7CA0-41D3-B626-ED1D91A12A9D}"/>
                </a:ext>
              </a:extLst>
            </p:cNvPr>
            <p:cNvSpPr/>
            <p:nvPr/>
          </p:nvSpPr>
          <p:spPr>
            <a:xfrm>
              <a:off x="8653425" y="3679722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21">
              <a:extLst>
                <a:ext uri="{FF2B5EF4-FFF2-40B4-BE49-F238E27FC236}">
                  <a16:creationId xmlns:a16="http://schemas.microsoft.com/office/drawing/2014/main" id="{ACF7B358-8C3F-4F1C-8093-955645769060}"/>
                </a:ext>
              </a:extLst>
            </p:cNvPr>
            <p:cNvSpPr/>
            <p:nvPr/>
          </p:nvSpPr>
          <p:spPr>
            <a:xfrm>
              <a:off x="9242350" y="3679722"/>
              <a:ext cx="588922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22">
              <a:extLst>
                <a:ext uri="{FF2B5EF4-FFF2-40B4-BE49-F238E27FC236}">
                  <a16:creationId xmlns:a16="http://schemas.microsoft.com/office/drawing/2014/main" id="{1FB163C1-5810-4535-B396-A190418CF6E8}"/>
                </a:ext>
              </a:extLst>
            </p:cNvPr>
            <p:cNvSpPr/>
            <p:nvPr/>
          </p:nvSpPr>
          <p:spPr>
            <a:xfrm>
              <a:off x="8064502" y="4230657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23">
              <a:extLst>
                <a:ext uri="{FF2B5EF4-FFF2-40B4-BE49-F238E27FC236}">
                  <a16:creationId xmlns:a16="http://schemas.microsoft.com/office/drawing/2014/main" id="{44693904-F175-4B55-82E6-946A8BABBC24}"/>
                </a:ext>
              </a:extLst>
            </p:cNvPr>
            <p:cNvSpPr/>
            <p:nvPr/>
          </p:nvSpPr>
          <p:spPr>
            <a:xfrm>
              <a:off x="8653425" y="4230657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24">
              <a:extLst>
                <a:ext uri="{FF2B5EF4-FFF2-40B4-BE49-F238E27FC236}">
                  <a16:creationId xmlns:a16="http://schemas.microsoft.com/office/drawing/2014/main" id="{E375BD19-3092-4164-9982-6FA64DF98E9F}"/>
                </a:ext>
              </a:extLst>
            </p:cNvPr>
            <p:cNvSpPr/>
            <p:nvPr/>
          </p:nvSpPr>
          <p:spPr>
            <a:xfrm>
              <a:off x="9242348" y="4230657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25">
              <a:extLst>
                <a:ext uri="{FF2B5EF4-FFF2-40B4-BE49-F238E27FC236}">
                  <a16:creationId xmlns:a16="http://schemas.microsoft.com/office/drawing/2014/main" id="{900B8B3E-421E-4BCB-98D7-81329C60594B}"/>
                </a:ext>
              </a:extLst>
            </p:cNvPr>
            <p:cNvSpPr/>
            <p:nvPr/>
          </p:nvSpPr>
          <p:spPr>
            <a:xfrm>
              <a:off x="6204742" y="4860218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6">
              <a:extLst>
                <a:ext uri="{FF2B5EF4-FFF2-40B4-BE49-F238E27FC236}">
                  <a16:creationId xmlns:a16="http://schemas.microsoft.com/office/drawing/2014/main" id="{A6184211-8BBC-4565-A19D-96D986430095}"/>
                </a:ext>
              </a:extLst>
            </p:cNvPr>
            <p:cNvSpPr/>
            <p:nvPr/>
          </p:nvSpPr>
          <p:spPr>
            <a:xfrm>
              <a:off x="6793667" y="4860218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27">
              <a:extLst>
                <a:ext uri="{FF2B5EF4-FFF2-40B4-BE49-F238E27FC236}">
                  <a16:creationId xmlns:a16="http://schemas.microsoft.com/office/drawing/2014/main" id="{1D3F7FF0-3CA8-4DAF-BBDB-43914BCD0291}"/>
                </a:ext>
              </a:extLst>
            </p:cNvPr>
            <p:cNvSpPr/>
            <p:nvPr/>
          </p:nvSpPr>
          <p:spPr>
            <a:xfrm>
              <a:off x="7382589" y="4860218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28">
              <a:extLst>
                <a:ext uri="{FF2B5EF4-FFF2-40B4-BE49-F238E27FC236}">
                  <a16:creationId xmlns:a16="http://schemas.microsoft.com/office/drawing/2014/main" id="{01F6995A-EDAC-462D-898B-27F7AFDDD518}"/>
                </a:ext>
              </a:extLst>
            </p:cNvPr>
            <p:cNvSpPr/>
            <p:nvPr/>
          </p:nvSpPr>
          <p:spPr>
            <a:xfrm>
              <a:off x="6204742" y="5411155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29">
              <a:extLst>
                <a:ext uri="{FF2B5EF4-FFF2-40B4-BE49-F238E27FC236}">
                  <a16:creationId xmlns:a16="http://schemas.microsoft.com/office/drawing/2014/main" id="{F78C7049-1E39-4145-BA1C-A43212914F65}"/>
                </a:ext>
              </a:extLst>
            </p:cNvPr>
            <p:cNvSpPr/>
            <p:nvPr/>
          </p:nvSpPr>
          <p:spPr>
            <a:xfrm>
              <a:off x="6793667" y="5411155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30">
              <a:extLst>
                <a:ext uri="{FF2B5EF4-FFF2-40B4-BE49-F238E27FC236}">
                  <a16:creationId xmlns:a16="http://schemas.microsoft.com/office/drawing/2014/main" id="{A8B268FC-9764-4256-BD6A-F09868146CE2}"/>
                </a:ext>
              </a:extLst>
            </p:cNvPr>
            <p:cNvSpPr/>
            <p:nvPr/>
          </p:nvSpPr>
          <p:spPr>
            <a:xfrm>
              <a:off x="7382589" y="5411155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31">
              <a:extLst>
                <a:ext uri="{FF2B5EF4-FFF2-40B4-BE49-F238E27FC236}">
                  <a16:creationId xmlns:a16="http://schemas.microsoft.com/office/drawing/2014/main" id="{9289593A-F468-4E46-9946-863C8623ECFA}"/>
                </a:ext>
              </a:extLst>
            </p:cNvPr>
            <p:cNvSpPr/>
            <p:nvPr/>
          </p:nvSpPr>
          <p:spPr>
            <a:xfrm>
              <a:off x="6204742" y="5962092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32">
              <a:extLst>
                <a:ext uri="{FF2B5EF4-FFF2-40B4-BE49-F238E27FC236}">
                  <a16:creationId xmlns:a16="http://schemas.microsoft.com/office/drawing/2014/main" id="{1E037938-E496-410C-A840-0F7E84FB5C09}"/>
                </a:ext>
              </a:extLst>
            </p:cNvPr>
            <p:cNvSpPr/>
            <p:nvPr/>
          </p:nvSpPr>
          <p:spPr>
            <a:xfrm>
              <a:off x="6793667" y="5962092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33">
              <a:extLst>
                <a:ext uri="{FF2B5EF4-FFF2-40B4-BE49-F238E27FC236}">
                  <a16:creationId xmlns:a16="http://schemas.microsoft.com/office/drawing/2014/main" id="{6AF00B95-411C-40B0-93FA-EE09F5F5E9C8}"/>
                </a:ext>
              </a:extLst>
            </p:cNvPr>
            <p:cNvSpPr/>
            <p:nvPr/>
          </p:nvSpPr>
          <p:spPr>
            <a:xfrm>
              <a:off x="7382589" y="5962092"/>
              <a:ext cx="588925" cy="550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" name="그룹 37">
              <a:extLst>
                <a:ext uri="{FF2B5EF4-FFF2-40B4-BE49-F238E27FC236}">
                  <a16:creationId xmlns:a16="http://schemas.microsoft.com/office/drawing/2014/main" id="{645289A5-8CFF-4916-BA2B-ADF931C1BA80}"/>
                </a:ext>
              </a:extLst>
            </p:cNvPr>
            <p:cNvGrpSpPr/>
            <p:nvPr/>
          </p:nvGrpSpPr>
          <p:grpSpPr>
            <a:xfrm>
              <a:off x="8064501" y="4860218"/>
              <a:ext cx="1766771" cy="1652812"/>
              <a:chOff x="4830553" y="4745004"/>
              <a:chExt cx="1944216" cy="1944216"/>
            </a:xfrm>
          </p:grpSpPr>
          <p:sp>
            <p:nvSpPr>
              <p:cNvPr id="24" name="직사각형 38">
                <a:extLst>
                  <a:ext uri="{FF2B5EF4-FFF2-40B4-BE49-F238E27FC236}">
                    <a16:creationId xmlns:a16="http://schemas.microsoft.com/office/drawing/2014/main" id="{6EE58981-08D3-4148-B084-D4C4F320E6EA}"/>
                  </a:ext>
                </a:extLst>
              </p:cNvPr>
              <p:cNvSpPr/>
              <p:nvPr/>
            </p:nvSpPr>
            <p:spPr>
              <a:xfrm>
                <a:off x="4830553" y="4745004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39">
                <a:extLst>
                  <a:ext uri="{FF2B5EF4-FFF2-40B4-BE49-F238E27FC236}">
                    <a16:creationId xmlns:a16="http://schemas.microsoft.com/office/drawing/2014/main" id="{776831BF-4940-4470-8DCD-D3C89E7991FA}"/>
                  </a:ext>
                </a:extLst>
              </p:cNvPr>
              <p:cNvSpPr/>
              <p:nvPr/>
            </p:nvSpPr>
            <p:spPr>
              <a:xfrm>
                <a:off x="5478625" y="4745004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40">
                <a:extLst>
                  <a:ext uri="{FF2B5EF4-FFF2-40B4-BE49-F238E27FC236}">
                    <a16:creationId xmlns:a16="http://schemas.microsoft.com/office/drawing/2014/main" id="{97DD5354-9FAE-4520-BA8E-7B61A2455CFC}"/>
                  </a:ext>
                </a:extLst>
              </p:cNvPr>
              <p:cNvSpPr/>
              <p:nvPr/>
            </p:nvSpPr>
            <p:spPr>
              <a:xfrm>
                <a:off x="6126697" y="4745004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41">
                <a:extLst>
                  <a:ext uri="{FF2B5EF4-FFF2-40B4-BE49-F238E27FC236}">
                    <a16:creationId xmlns:a16="http://schemas.microsoft.com/office/drawing/2014/main" id="{255B2115-FB72-4DA7-829F-54CBACB5F15C}"/>
                  </a:ext>
                </a:extLst>
              </p:cNvPr>
              <p:cNvSpPr/>
              <p:nvPr/>
            </p:nvSpPr>
            <p:spPr>
              <a:xfrm>
                <a:off x="4830553" y="5393076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42">
                <a:extLst>
                  <a:ext uri="{FF2B5EF4-FFF2-40B4-BE49-F238E27FC236}">
                    <a16:creationId xmlns:a16="http://schemas.microsoft.com/office/drawing/2014/main" id="{B8714B9E-02D6-482A-944E-24AE249919F2}"/>
                  </a:ext>
                </a:extLst>
              </p:cNvPr>
              <p:cNvSpPr/>
              <p:nvPr/>
            </p:nvSpPr>
            <p:spPr>
              <a:xfrm>
                <a:off x="5478625" y="5393076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43">
                <a:extLst>
                  <a:ext uri="{FF2B5EF4-FFF2-40B4-BE49-F238E27FC236}">
                    <a16:creationId xmlns:a16="http://schemas.microsoft.com/office/drawing/2014/main" id="{EE92D651-E4E7-4B88-95DD-D3DC2A1FFEC5}"/>
                  </a:ext>
                </a:extLst>
              </p:cNvPr>
              <p:cNvSpPr/>
              <p:nvPr/>
            </p:nvSpPr>
            <p:spPr>
              <a:xfrm>
                <a:off x="6126697" y="5393076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44">
                <a:extLst>
                  <a:ext uri="{FF2B5EF4-FFF2-40B4-BE49-F238E27FC236}">
                    <a16:creationId xmlns:a16="http://schemas.microsoft.com/office/drawing/2014/main" id="{44B10990-0A5D-4081-B0CC-3E547F53F15E}"/>
                  </a:ext>
                </a:extLst>
              </p:cNvPr>
              <p:cNvSpPr/>
              <p:nvPr/>
            </p:nvSpPr>
            <p:spPr>
              <a:xfrm>
                <a:off x="4830553" y="6041148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45">
                <a:extLst>
                  <a:ext uri="{FF2B5EF4-FFF2-40B4-BE49-F238E27FC236}">
                    <a16:creationId xmlns:a16="http://schemas.microsoft.com/office/drawing/2014/main" id="{DE83FCAC-BEEF-4573-A9C8-E2D722D402B9}"/>
                  </a:ext>
                </a:extLst>
              </p:cNvPr>
              <p:cNvSpPr/>
              <p:nvPr/>
            </p:nvSpPr>
            <p:spPr>
              <a:xfrm>
                <a:off x="5478625" y="6041148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46">
                <a:extLst>
                  <a:ext uri="{FF2B5EF4-FFF2-40B4-BE49-F238E27FC236}">
                    <a16:creationId xmlns:a16="http://schemas.microsoft.com/office/drawing/2014/main" id="{D8458054-6D40-4E72-89A4-C0E6E7F7CAE4}"/>
                  </a:ext>
                </a:extLst>
              </p:cNvPr>
              <p:cNvSpPr/>
              <p:nvPr/>
            </p:nvSpPr>
            <p:spPr>
              <a:xfrm>
                <a:off x="6126697" y="6041148"/>
                <a:ext cx="648072" cy="6480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3" name="직선 연결선 54">
              <a:extLst>
                <a:ext uri="{FF2B5EF4-FFF2-40B4-BE49-F238E27FC236}">
                  <a16:creationId xmlns:a16="http://schemas.microsoft.com/office/drawing/2014/main" id="{46AF06A2-C14E-468A-BCAE-449C4D638676}"/>
                </a:ext>
              </a:extLst>
            </p:cNvPr>
            <p:cNvCxnSpPr>
              <a:endCxn id="34" idx="6"/>
            </p:cNvCxnSpPr>
            <p:nvPr/>
          </p:nvCxnSpPr>
          <p:spPr>
            <a:xfrm>
              <a:off x="6204742" y="5781981"/>
              <a:ext cx="3506706" cy="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타원 66">
              <a:extLst>
                <a:ext uri="{FF2B5EF4-FFF2-40B4-BE49-F238E27FC236}">
                  <a16:creationId xmlns:a16="http://schemas.microsoft.com/office/drawing/2014/main" id="{957874BC-79BD-47EE-BDB8-86CA6A47AFFE}"/>
                </a:ext>
              </a:extLst>
            </p:cNvPr>
            <p:cNvSpPr/>
            <p:nvPr/>
          </p:nvSpPr>
          <p:spPr>
            <a:xfrm>
              <a:off x="9618460" y="5738486"/>
              <a:ext cx="92988" cy="8699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직선 연결선 67">
              <a:extLst>
                <a:ext uri="{FF2B5EF4-FFF2-40B4-BE49-F238E27FC236}">
                  <a16:creationId xmlns:a16="http://schemas.microsoft.com/office/drawing/2014/main" id="{7691E004-7738-4DF2-815A-F6AC18674F38}"/>
                </a:ext>
              </a:extLst>
            </p:cNvPr>
            <p:cNvCxnSpPr>
              <a:stCxn id="34" idx="0"/>
            </p:cNvCxnSpPr>
            <p:nvPr/>
          </p:nvCxnSpPr>
          <p:spPr>
            <a:xfrm flipH="1" flipV="1">
              <a:off x="9663859" y="3128784"/>
              <a:ext cx="1095" cy="260970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오른쪽 화살표 80">
              <a:extLst>
                <a:ext uri="{FF2B5EF4-FFF2-40B4-BE49-F238E27FC236}">
                  <a16:creationId xmlns:a16="http://schemas.microsoft.com/office/drawing/2014/main" id="{6DAF47AA-A7D0-4041-BCEF-F08C0A4313F3}"/>
                </a:ext>
              </a:extLst>
            </p:cNvPr>
            <p:cNvSpPr/>
            <p:nvPr/>
          </p:nvSpPr>
          <p:spPr>
            <a:xfrm rot="5400000">
              <a:off x="8855274" y="3898009"/>
              <a:ext cx="1617171" cy="104759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오른쪽 화살표 49">
              <a:extLst>
                <a:ext uri="{FF2B5EF4-FFF2-40B4-BE49-F238E27FC236}">
                  <a16:creationId xmlns:a16="http://schemas.microsoft.com/office/drawing/2014/main" id="{D1DE8269-3BF1-4BC3-BDED-5FF2B5179C87}"/>
                </a:ext>
              </a:extLst>
            </p:cNvPr>
            <p:cNvSpPr/>
            <p:nvPr/>
          </p:nvSpPr>
          <p:spPr>
            <a:xfrm>
              <a:off x="6204741" y="5738486"/>
              <a:ext cx="1759380" cy="93926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43" tIns="50271" rIns="100543" bIns="50271"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90CA44E-FF35-4951-8086-53568F95B58B}"/>
                    </a:ext>
                  </a:extLst>
                </p:cNvPr>
                <p:cNvSpPr txBox="1"/>
                <p:nvPr/>
              </p:nvSpPr>
              <p:spPr>
                <a:xfrm>
                  <a:off x="9102916" y="5380692"/>
                  <a:ext cx="7089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90CA44E-FF35-4951-8086-53568F95B5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2916" y="5380692"/>
                  <a:ext cx="708912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7A20BB1-7D9F-47F9-A451-6BFCBAC553D6}"/>
                    </a:ext>
                  </a:extLst>
                </p:cNvPr>
                <p:cNvSpPr txBox="1"/>
                <p:nvPr/>
              </p:nvSpPr>
              <p:spPr>
                <a:xfrm>
                  <a:off x="5688696" y="5654694"/>
                  <a:ext cx="4401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행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7A20BB1-7D9F-47F9-A451-6BFCBAC55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696" y="5654694"/>
                  <a:ext cx="44012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9722" t="-11111" r="-15278" b="-222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AEC1CBE-1CB3-421F-9BA1-02DB0CF5325E}"/>
                    </a:ext>
                  </a:extLst>
                </p:cNvPr>
                <p:cNvSpPr txBox="1"/>
                <p:nvPr/>
              </p:nvSpPr>
              <p:spPr>
                <a:xfrm>
                  <a:off x="9369176" y="2539306"/>
                  <a:ext cx="4464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열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AEC1CBE-1CB3-421F-9BA1-02DB0CF53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9176" y="2539306"/>
                  <a:ext cx="44640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068" t="-11111" r="-15068" b="-3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4554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공유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메모리를 이용한 행렬 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243" dirty="0"/>
              <a:t>전역 메모리 데이터를 단계적으로 공유 메모리로 옮겨서 사용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716EE9A-FB28-4B45-90B9-53409C9BA8E9}"/>
              </a:ext>
            </a:extLst>
          </p:cNvPr>
          <p:cNvGrpSpPr/>
          <p:nvPr/>
        </p:nvGrpSpPr>
        <p:grpSpPr>
          <a:xfrm>
            <a:off x="847836" y="1993587"/>
            <a:ext cx="6386833" cy="4362724"/>
            <a:chOff x="921565" y="2047731"/>
            <a:chExt cx="6149583" cy="420066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0552FCB-9E1E-456D-94B3-B4944198A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1565" y="2047731"/>
              <a:ext cx="6149583" cy="4200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2" name="직선 연결선 11"/>
            <p:cNvCxnSpPr/>
            <p:nvPr/>
          </p:nvCxnSpPr>
          <p:spPr>
            <a:xfrm>
              <a:off x="3056200" y="4592722"/>
              <a:ext cx="846701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cxnSpLocks/>
            </p:cNvCxnSpPr>
            <p:nvPr/>
          </p:nvCxnSpPr>
          <p:spPr>
            <a:xfrm>
              <a:off x="4112539" y="4592722"/>
              <a:ext cx="1298757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5682559" y="4592721"/>
              <a:ext cx="216664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>
              <a:cxnSpLocks/>
            </p:cNvCxnSpPr>
            <p:nvPr/>
          </p:nvCxnSpPr>
          <p:spPr>
            <a:xfrm>
              <a:off x="3056200" y="4796991"/>
              <a:ext cx="2626359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5895123" y="4796991"/>
              <a:ext cx="2936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464F5673-86EC-43A7-B144-5A15C0826A98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4968441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AF42F7B2-D3E4-47C8-B8B3-0356DA3F5F1C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5714960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1994AC2-6ECA-4A93-BF00-4D65BD8834AF}"/>
              </a:ext>
            </a:extLst>
          </p:cNvPr>
          <p:cNvGrpSpPr/>
          <p:nvPr/>
        </p:nvGrpSpPr>
        <p:grpSpPr>
          <a:xfrm>
            <a:off x="7456601" y="1511504"/>
            <a:ext cx="3897199" cy="4844807"/>
            <a:chOff x="7447158" y="1781468"/>
            <a:chExt cx="3897199" cy="4844807"/>
          </a:xfrm>
        </p:grpSpPr>
        <p:grpSp>
          <p:nvGrpSpPr>
            <p:cNvPr id="7" name="그룹 6"/>
            <p:cNvGrpSpPr/>
            <p:nvPr/>
          </p:nvGrpSpPr>
          <p:grpSpPr>
            <a:xfrm>
              <a:off x="7545862" y="1781468"/>
              <a:ext cx="3798495" cy="3494728"/>
              <a:chOff x="6942255" y="1974219"/>
              <a:chExt cx="3559550" cy="3274891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8772001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9293688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815374" y="2128336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8772001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293688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9815376" y="2616374"/>
                <a:ext cx="521686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772001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9293688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9815374" y="3104410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7124567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7646255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8167941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7124567" y="4150132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7646255" y="4150132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8167941" y="4150132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7124567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7646255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8167941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8772000" y="3662094"/>
                <a:ext cx="1565061" cy="1464113"/>
                <a:chOff x="4830553" y="4745004"/>
                <a:chExt cx="1944216" cy="1944216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4830553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5478625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1" name="직사각형 40"/>
                <p:cNvSpPr/>
                <p:nvPr/>
              </p:nvSpPr>
              <p:spPr>
                <a:xfrm>
                  <a:off x="6126697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4830553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78625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4" name="직사각형 43"/>
                <p:cNvSpPr/>
                <p:nvPr/>
              </p:nvSpPr>
              <p:spPr>
                <a:xfrm>
                  <a:off x="6126697" y="5393076"/>
                  <a:ext cx="648072" cy="64807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4830553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5478625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6126697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cxnSp>
            <p:nvCxnSpPr>
              <p:cNvPr id="55" name="직선 연결선 54"/>
              <p:cNvCxnSpPr/>
              <p:nvPr/>
            </p:nvCxnSpPr>
            <p:spPr>
              <a:xfrm>
                <a:off x="7124567" y="4478621"/>
                <a:ext cx="337723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오른쪽 화살표 64"/>
              <p:cNvSpPr/>
              <p:nvPr/>
            </p:nvSpPr>
            <p:spPr>
              <a:xfrm>
                <a:off x="7970502" y="4440092"/>
                <a:ext cx="166297" cy="77059"/>
              </a:xfrm>
              <a:prstGeom prst="rightArrow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6" name="오른쪽 화살표 65"/>
              <p:cNvSpPr/>
              <p:nvPr/>
            </p:nvSpPr>
            <p:spPr>
              <a:xfrm>
                <a:off x="8276217" y="444009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0148546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cxnSp>
            <p:nvCxnSpPr>
              <p:cNvPr id="68" name="직선 연결선 67"/>
              <p:cNvCxnSpPr/>
              <p:nvPr/>
            </p:nvCxnSpPr>
            <p:spPr>
              <a:xfrm flipV="1">
                <a:off x="10179995" y="1974219"/>
                <a:ext cx="17537" cy="327489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타원 73"/>
              <p:cNvSpPr/>
              <p:nvPr/>
            </p:nvSpPr>
            <p:spPr>
              <a:xfrm>
                <a:off x="8442513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0" name="오른쪽 화살표 79"/>
              <p:cNvSpPr/>
              <p:nvPr/>
            </p:nvSpPr>
            <p:spPr>
              <a:xfrm>
                <a:off x="8581931" y="336127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1" name="오른쪽 화살표 80"/>
              <p:cNvSpPr/>
              <p:nvPr/>
            </p:nvSpPr>
            <p:spPr>
              <a:xfrm>
                <a:off x="9964823" y="336127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2" name="타원 81"/>
              <p:cNvSpPr/>
              <p:nvPr/>
            </p:nvSpPr>
            <p:spPr>
              <a:xfrm>
                <a:off x="10145414" y="336127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50" name="오른쪽 화살표 49"/>
              <p:cNvSpPr/>
              <p:nvPr/>
            </p:nvSpPr>
            <p:spPr>
              <a:xfrm>
                <a:off x="6942255" y="444009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9942692" y="5473611"/>
              <a:ext cx="1229468" cy="1152626"/>
              <a:chOff x="7240875" y="5258852"/>
              <a:chExt cx="1152128" cy="1080120"/>
            </a:xfrm>
          </p:grpSpPr>
          <p:sp>
            <p:nvSpPr>
              <p:cNvPr id="64" name="직사각형 63"/>
              <p:cNvSpPr/>
              <p:nvPr/>
            </p:nvSpPr>
            <p:spPr>
              <a:xfrm>
                <a:off x="7240875" y="585093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7871315" y="5258852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sp>
          <p:nvSpPr>
            <p:cNvPr id="70" name="직사각형 69"/>
            <p:cNvSpPr/>
            <p:nvPr/>
          </p:nvSpPr>
          <p:spPr>
            <a:xfrm>
              <a:off x="10615452" y="6105476"/>
              <a:ext cx="556707" cy="520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043" tIns="47521" rIns="95043" bIns="47521" rtlCol="0" anchor="ctr"/>
            <a:lstStyle/>
            <a:p>
              <a:pPr algn="ctr"/>
              <a:endParaRPr lang="ko-KR" altLang="en-US" sz="168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82" i="1">
                            <a:latin typeface="Cambria Math"/>
                          </a:rPr>
                          <m:t>(</m:t>
                        </m:r>
                        <m:r>
                          <a:rPr lang="en-US" altLang="ko-KR" sz="1682" i="1">
                            <a:latin typeface="Cambria Math"/>
                          </a:rPr>
                          <m:t>𝑖</m:t>
                        </m:r>
                        <m:r>
                          <a:rPr lang="en-US" altLang="ko-KR" sz="1682" i="1">
                            <a:latin typeface="Cambria Math"/>
                          </a:rPr>
                          <m:t>, </m:t>
                        </m:r>
                        <m:r>
                          <a:rPr lang="en-US" altLang="ko-KR" sz="1682" i="1">
                            <a:latin typeface="Cambria Math"/>
                          </a:rPr>
                          <m:t>𝑗</m:t>
                        </m:r>
                        <m:r>
                          <a:rPr lang="en-US" altLang="ko-KR" sz="1682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sz="1682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blipFill>
                  <a:blip r:embed="rId3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/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/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4324" r="-24324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/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4286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/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15686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EDC9AE-064F-41E7-9258-CA16412D33B9}"/>
                </a:ext>
              </a:extLst>
            </p:cNvPr>
            <p:cNvSpPr txBox="1"/>
            <p:nvPr/>
          </p:nvSpPr>
          <p:spPr>
            <a:xfrm>
              <a:off x="8643133" y="5473611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 = 0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1433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공유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메모리를 이용한 행렬 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88072"/>
            <a:ext cx="10515600" cy="4768277"/>
          </a:xfrm>
        </p:spPr>
        <p:txBody>
          <a:bodyPr>
            <a:normAutofit/>
          </a:bodyPr>
          <a:lstStyle/>
          <a:p>
            <a:r>
              <a:rPr lang="ko-KR" altLang="en-US" sz="2243" dirty="0"/>
              <a:t>전역 메모리 데이터를 단계적으로 공유 메모리로 옮겨서 사용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2164121-882B-425C-9540-DDCB6E330C8B}"/>
              </a:ext>
            </a:extLst>
          </p:cNvPr>
          <p:cNvGrpSpPr/>
          <p:nvPr/>
        </p:nvGrpSpPr>
        <p:grpSpPr>
          <a:xfrm>
            <a:off x="7458004" y="1511504"/>
            <a:ext cx="3897199" cy="4844807"/>
            <a:chOff x="7447158" y="1781468"/>
            <a:chExt cx="3897199" cy="4844807"/>
          </a:xfrm>
        </p:grpSpPr>
        <p:grpSp>
          <p:nvGrpSpPr>
            <p:cNvPr id="7" name="그룹 6"/>
            <p:cNvGrpSpPr/>
            <p:nvPr/>
          </p:nvGrpSpPr>
          <p:grpSpPr>
            <a:xfrm>
              <a:off x="7545862" y="1781468"/>
              <a:ext cx="3798495" cy="3494728"/>
              <a:chOff x="6942255" y="1974219"/>
              <a:chExt cx="3559550" cy="3274891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8772001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9293688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815374" y="2128336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8772001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293688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9815376" y="2616374"/>
                <a:ext cx="521686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772001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9293688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9815374" y="3104410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7124567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7646255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8167941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7124567" y="4150132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7646255" y="4150132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8167941" y="4150132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7124567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7646255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8167941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8772000" y="3662094"/>
                <a:ext cx="1565061" cy="1464113"/>
                <a:chOff x="4830553" y="4745004"/>
                <a:chExt cx="1944216" cy="1944216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4830553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5478625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1" name="직사각형 40"/>
                <p:cNvSpPr/>
                <p:nvPr/>
              </p:nvSpPr>
              <p:spPr>
                <a:xfrm>
                  <a:off x="6126697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4830553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78625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4" name="직사각형 43"/>
                <p:cNvSpPr/>
                <p:nvPr/>
              </p:nvSpPr>
              <p:spPr>
                <a:xfrm>
                  <a:off x="6126697" y="5393076"/>
                  <a:ext cx="648072" cy="64807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4830553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5478625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6126697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cxnSp>
            <p:nvCxnSpPr>
              <p:cNvPr id="55" name="직선 연결선 54"/>
              <p:cNvCxnSpPr/>
              <p:nvPr/>
            </p:nvCxnSpPr>
            <p:spPr>
              <a:xfrm>
                <a:off x="7124567" y="4478621"/>
                <a:ext cx="337723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오른쪽 화살표 64"/>
              <p:cNvSpPr/>
              <p:nvPr/>
            </p:nvSpPr>
            <p:spPr>
              <a:xfrm>
                <a:off x="7970502" y="4440092"/>
                <a:ext cx="166297" cy="77059"/>
              </a:xfrm>
              <a:prstGeom prst="rightArrow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6" name="오른쪽 화살표 65"/>
              <p:cNvSpPr/>
              <p:nvPr/>
            </p:nvSpPr>
            <p:spPr>
              <a:xfrm>
                <a:off x="8276217" y="444009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0148546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cxnSp>
            <p:nvCxnSpPr>
              <p:cNvPr id="68" name="직선 연결선 67"/>
              <p:cNvCxnSpPr/>
              <p:nvPr/>
            </p:nvCxnSpPr>
            <p:spPr>
              <a:xfrm flipV="1">
                <a:off x="10179995" y="1974219"/>
                <a:ext cx="17537" cy="327489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타원 73"/>
              <p:cNvSpPr/>
              <p:nvPr/>
            </p:nvSpPr>
            <p:spPr>
              <a:xfrm>
                <a:off x="8442513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0" name="오른쪽 화살표 79"/>
              <p:cNvSpPr/>
              <p:nvPr/>
            </p:nvSpPr>
            <p:spPr>
              <a:xfrm>
                <a:off x="8581931" y="336127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1" name="오른쪽 화살표 80"/>
              <p:cNvSpPr/>
              <p:nvPr/>
            </p:nvSpPr>
            <p:spPr>
              <a:xfrm>
                <a:off x="9964823" y="336127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2" name="타원 81"/>
              <p:cNvSpPr/>
              <p:nvPr/>
            </p:nvSpPr>
            <p:spPr>
              <a:xfrm>
                <a:off x="10145414" y="336127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50" name="오른쪽 화살표 49"/>
              <p:cNvSpPr/>
              <p:nvPr/>
            </p:nvSpPr>
            <p:spPr>
              <a:xfrm>
                <a:off x="6942255" y="444009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sp>
          <p:nvSpPr>
            <p:cNvPr id="70" name="직사각형 69"/>
            <p:cNvSpPr/>
            <p:nvPr/>
          </p:nvSpPr>
          <p:spPr>
            <a:xfrm>
              <a:off x="10615452" y="6105476"/>
              <a:ext cx="556707" cy="520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043" tIns="47521" rIns="95043" bIns="47521" rtlCol="0" anchor="ctr"/>
            <a:lstStyle/>
            <a:p>
              <a:pPr algn="ctr"/>
              <a:endParaRPr lang="ko-KR" altLang="en-US" sz="168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82" i="1">
                            <a:latin typeface="Cambria Math"/>
                          </a:rPr>
                          <m:t>(</m:t>
                        </m:r>
                        <m:r>
                          <a:rPr lang="en-US" altLang="ko-KR" sz="1682" i="1">
                            <a:latin typeface="Cambria Math"/>
                          </a:rPr>
                          <m:t>𝑖</m:t>
                        </m:r>
                        <m:r>
                          <a:rPr lang="en-US" altLang="ko-KR" sz="1682" i="1">
                            <a:latin typeface="Cambria Math"/>
                          </a:rPr>
                          <m:t>, </m:t>
                        </m:r>
                        <m:r>
                          <a:rPr lang="en-US" altLang="ko-KR" sz="1682" i="1">
                            <a:latin typeface="Cambria Math"/>
                          </a:rPr>
                          <m:t>𝑗</m:t>
                        </m:r>
                        <m:r>
                          <a:rPr lang="en-US" altLang="ko-KR" sz="1682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sz="1682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blipFill>
                  <a:blip r:embed="rId2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/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/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3684" r="-21053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/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14286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/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5686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5EFEB69E-BB3A-4BDC-8173-091C2EC4910C}"/>
                </a:ext>
              </a:extLst>
            </p:cNvPr>
            <p:cNvGrpSpPr/>
            <p:nvPr/>
          </p:nvGrpSpPr>
          <p:grpSpPr>
            <a:xfrm>
              <a:off x="9942692" y="5473611"/>
              <a:ext cx="1229468" cy="1152626"/>
              <a:chOff x="8110339" y="5613722"/>
              <a:chExt cx="1152128" cy="1080120"/>
            </a:xfrm>
          </p:grpSpPr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4FFBCE49-DD8E-4E35-9616-E91481DADADB}"/>
                  </a:ext>
                </a:extLst>
              </p:cNvPr>
              <p:cNvSpPr/>
              <p:nvPr/>
            </p:nvSpPr>
            <p:spPr>
              <a:xfrm>
                <a:off x="8110339" y="6205804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6CAAA4E1-737E-4AB2-93D2-1D3AE8FCA168}"/>
                  </a:ext>
                </a:extLst>
              </p:cNvPr>
              <p:cNvSpPr/>
              <p:nvPr/>
            </p:nvSpPr>
            <p:spPr>
              <a:xfrm>
                <a:off x="8740779" y="5613722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36C4271-B393-4C3C-9936-0780DA6E5125}"/>
                </a:ext>
              </a:extLst>
            </p:cNvPr>
            <p:cNvSpPr txBox="1"/>
            <p:nvPr/>
          </p:nvSpPr>
          <p:spPr>
            <a:xfrm>
              <a:off x="8643133" y="5473611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 = 0</a:t>
              </a:r>
              <a:endParaRPr lang="ko-KR" altLang="en-US" dirty="0"/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57E9AD23-8BF6-4A52-85F4-FCC3D294D929}"/>
              </a:ext>
            </a:extLst>
          </p:cNvPr>
          <p:cNvGrpSpPr/>
          <p:nvPr/>
        </p:nvGrpSpPr>
        <p:grpSpPr>
          <a:xfrm>
            <a:off x="847836" y="1993587"/>
            <a:ext cx="6386833" cy="4362724"/>
            <a:chOff x="921565" y="2047731"/>
            <a:chExt cx="6149583" cy="4200663"/>
          </a:xfrm>
        </p:grpSpPr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C1B87350-8282-4903-B1FD-8A64538C9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565" y="2047731"/>
              <a:ext cx="6149583" cy="4200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3FA736C5-6DE4-4C77-97F4-5A123D9F3A78}"/>
                </a:ext>
              </a:extLst>
            </p:cNvPr>
            <p:cNvCxnSpPr/>
            <p:nvPr/>
          </p:nvCxnSpPr>
          <p:spPr>
            <a:xfrm>
              <a:off x="3056200" y="4592722"/>
              <a:ext cx="846701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16245878-0AFF-4238-8A0A-D2AC20E83B6F}"/>
                </a:ext>
              </a:extLst>
            </p:cNvPr>
            <p:cNvCxnSpPr>
              <a:cxnSpLocks/>
            </p:cNvCxnSpPr>
            <p:nvPr/>
          </p:nvCxnSpPr>
          <p:spPr>
            <a:xfrm>
              <a:off x="4112539" y="4592722"/>
              <a:ext cx="1298757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C105F822-CE60-4473-B9F9-18340B3A1617}"/>
                </a:ext>
              </a:extLst>
            </p:cNvPr>
            <p:cNvCxnSpPr/>
            <p:nvPr/>
          </p:nvCxnSpPr>
          <p:spPr>
            <a:xfrm>
              <a:off x="5682559" y="4592721"/>
              <a:ext cx="216664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5D524E9B-4B00-4C23-A2F0-E94C4888DD54}"/>
                </a:ext>
              </a:extLst>
            </p:cNvPr>
            <p:cNvCxnSpPr>
              <a:cxnSpLocks/>
            </p:cNvCxnSpPr>
            <p:nvPr/>
          </p:nvCxnSpPr>
          <p:spPr>
            <a:xfrm>
              <a:off x="3056200" y="4796991"/>
              <a:ext cx="2626359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317BA93B-5CE4-4471-89AF-8F50D33BBD33}"/>
                </a:ext>
              </a:extLst>
            </p:cNvPr>
            <p:cNvCxnSpPr/>
            <p:nvPr/>
          </p:nvCxnSpPr>
          <p:spPr>
            <a:xfrm>
              <a:off x="5895123" y="4796991"/>
              <a:ext cx="2936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608D2402-5AEB-47B1-997A-F763E04F8DBD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4968441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602EE493-2276-4159-9464-6CB1C8EA81DA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5714960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034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공유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메모리를 이용한 행렬 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243" dirty="0"/>
              <a:t>전역 메모리 데이터를 단계적으로 공유 메모리로 옮겨서 사용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436F4E7-46F5-4D24-A4B8-DCCE80AF9BB9}"/>
              </a:ext>
            </a:extLst>
          </p:cNvPr>
          <p:cNvGrpSpPr/>
          <p:nvPr/>
        </p:nvGrpSpPr>
        <p:grpSpPr>
          <a:xfrm>
            <a:off x="7458004" y="1511504"/>
            <a:ext cx="3897199" cy="4844807"/>
            <a:chOff x="7447158" y="1781468"/>
            <a:chExt cx="3897199" cy="48448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/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D10E3CB-D704-440F-B7DE-20CC9D06DEEF}"/>
                </a:ext>
              </a:extLst>
            </p:cNvPr>
            <p:cNvGrpSpPr/>
            <p:nvPr/>
          </p:nvGrpSpPr>
          <p:grpSpPr>
            <a:xfrm>
              <a:off x="7545862" y="1781468"/>
              <a:ext cx="3798495" cy="4844807"/>
              <a:chOff x="7545862" y="1781468"/>
              <a:chExt cx="3798495" cy="4844807"/>
            </a:xfrm>
          </p:grpSpPr>
          <p:grpSp>
            <p:nvGrpSpPr>
              <p:cNvPr id="14" name="그룹 13"/>
              <p:cNvGrpSpPr/>
              <p:nvPr/>
            </p:nvGrpSpPr>
            <p:grpSpPr>
              <a:xfrm>
                <a:off x="9942692" y="5473611"/>
                <a:ext cx="1229468" cy="1152626"/>
                <a:chOff x="8110339" y="5613722"/>
                <a:chExt cx="1152128" cy="1080120"/>
              </a:xfrm>
            </p:grpSpPr>
            <p:sp>
              <p:nvSpPr>
                <p:cNvPr id="56" name="직사각형 55"/>
                <p:cNvSpPr/>
                <p:nvPr/>
              </p:nvSpPr>
              <p:spPr>
                <a:xfrm>
                  <a:off x="8110339" y="6205804"/>
                  <a:ext cx="521688" cy="48803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57" name="직사각형 56"/>
                <p:cNvSpPr/>
                <p:nvPr/>
              </p:nvSpPr>
              <p:spPr>
                <a:xfrm>
                  <a:off x="8740779" y="5613722"/>
                  <a:ext cx="521688" cy="48803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grpSp>
            <p:nvGrpSpPr>
              <p:cNvPr id="7" name="그룹 6"/>
              <p:cNvGrpSpPr/>
              <p:nvPr/>
            </p:nvGrpSpPr>
            <p:grpSpPr>
              <a:xfrm>
                <a:off x="7545862" y="1781468"/>
                <a:ext cx="3798495" cy="3494728"/>
                <a:chOff x="6942255" y="1974219"/>
                <a:chExt cx="3559550" cy="3274891"/>
              </a:xfrm>
            </p:grpSpPr>
            <p:sp>
              <p:nvSpPr>
                <p:cNvPr id="17" name="직사각형 16"/>
                <p:cNvSpPr/>
                <p:nvPr/>
              </p:nvSpPr>
              <p:spPr>
                <a:xfrm>
                  <a:off x="8772001" y="2128336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9293688" y="2128336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9815374" y="2128336"/>
                  <a:ext cx="521688" cy="48803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0" name="직사각형 19"/>
                <p:cNvSpPr/>
                <p:nvPr/>
              </p:nvSpPr>
              <p:spPr>
                <a:xfrm>
                  <a:off x="8772001" y="2616374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1" name="직사각형 20"/>
                <p:cNvSpPr/>
                <p:nvPr/>
              </p:nvSpPr>
              <p:spPr>
                <a:xfrm>
                  <a:off x="9293688" y="2616374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9815376" y="2616374"/>
                  <a:ext cx="521686" cy="488038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8772001" y="3104410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9293688" y="3104410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9815374" y="3104410"/>
                  <a:ext cx="521688" cy="488038"/>
                </a:xfrm>
                <a:prstGeom prst="rect">
                  <a:avLst/>
                </a:prstGeom>
                <a:solidFill>
                  <a:srgbClr val="0000F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7124567" y="3662094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7646255" y="3662094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8167941" y="3662094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7124567" y="4150132"/>
                  <a:ext cx="521688" cy="48803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30" name="직사각형 29"/>
                <p:cNvSpPr/>
                <p:nvPr/>
              </p:nvSpPr>
              <p:spPr>
                <a:xfrm>
                  <a:off x="7646255" y="4150132"/>
                  <a:ext cx="521688" cy="488038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8167941" y="4150132"/>
                  <a:ext cx="521688" cy="488038"/>
                </a:xfrm>
                <a:prstGeom prst="rect">
                  <a:avLst/>
                </a:prstGeom>
                <a:solidFill>
                  <a:srgbClr val="0000F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32" name="직사각형 31"/>
                <p:cNvSpPr/>
                <p:nvPr/>
              </p:nvSpPr>
              <p:spPr>
                <a:xfrm>
                  <a:off x="7124567" y="4638169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33" name="직사각형 32"/>
                <p:cNvSpPr/>
                <p:nvPr/>
              </p:nvSpPr>
              <p:spPr>
                <a:xfrm>
                  <a:off x="7646255" y="4638169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8167941" y="4638169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grpSp>
              <p:nvGrpSpPr>
                <p:cNvPr id="38" name="그룹 37"/>
                <p:cNvGrpSpPr/>
                <p:nvPr/>
              </p:nvGrpSpPr>
              <p:grpSpPr>
                <a:xfrm>
                  <a:off x="8772000" y="3662094"/>
                  <a:ext cx="1565061" cy="1464113"/>
                  <a:chOff x="4830553" y="4745004"/>
                  <a:chExt cx="1944216" cy="1944216"/>
                </a:xfrm>
              </p:grpSpPr>
              <p:sp>
                <p:nvSpPr>
                  <p:cNvPr id="39" name="직사각형 38"/>
                  <p:cNvSpPr/>
                  <p:nvPr/>
                </p:nvSpPr>
                <p:spPr>
                  <a:xfrm>
                    <a:off x="4830553" y="4745004"/>
                    <a:ext cx="648072" cy="6480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  <p:sp>
                <p:nvSpPr>
                  <p:cNvPr id="40" name="직사각형 39"/>
                  <p:cNvSpPr/>
                  <p:nvPr/>
                </p:nvSpPr>
                <p:spPr>
                  <a:xfrm>
                    <a:off x="5478625" y="4745004"/>
                    <a:ext cx="648072" cy="6480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6126697" y="4745004"/>
                    <a:ext cx="648072" cy="6480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0553" y="5393076"/>
                    <a:ext cx="648072" cy="6480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5478625" y="5393076"/>
                    <a:ext cx="648072" cy="6480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  <p:sp>
                <p:nvSpPr>
                  <p:cNvPr id="44" name="직사각형 43"/>
                  <p:cNvSpPr/>
                  <p:nvPr/>
                </p:nvSpPr>
                <p:spPr>
                  <a:xfrm>
                    <a:off x="6126697" y="5393076"/>
                    <a:ext cx="648072" cy="648072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0553" y="6041148"/>
                    <a:ext cx="648072" cy="6480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  <p:sp>
                <p:nvSpPr>
                  <p:cNvPr id="46" name="직사각형 45"/>
                  <p:cNvSpPr/>
                  <p:nvPr/>
                </p:nvSpPr>
                <p:spPr>
                  <a:xfrm>
                    <a:off x="5478625" y="6041148"/>
                    <a:ext cx="648072" cy="6480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6126697" y="6041148"/>
                    <a:ext cx="648072" cy="6480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82"/>
                  </a:p>
                </p:txBody>
              </p:sp>
            </p:grpSp>
            <p:cxnSp>
              <p:nvCxnSpPr>
                <p:cNvPr id="55" name="직선 연결선 54"/>
                <p:cNvCxnSpPr/>
                <p:nvPr/>
              </p:nvCxnSpPr>
              <p:spPr>
                <a:xfrm>
                  <a:off x="7124567" y="4478621"/>
                  <a:ext cx="337723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오른쪽 화살표 64"/>
                <p:cNvSpPr/>
                <p:nvPr/>
              </p:nvSpPr>
              <p:spPr>
                <a:xfrm>
                  <a:off x="7970502" y="4440092"/>
                  <a:ext cx="166297" cy="77059"/>
                </a:xfrm>
                <a:prstGeom prst="rightArrow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66" name="오른쪽 화살표 65"/>
                <p:cNvSpPr/>
                <p:nvPr/>
              </p:nvSpPr>
              <p:spPr>
                <a:xfrm>
                  <a:off x="8276217" y="4440092"/>
                  <a:ext cx="166297" cy="77059"/>
                </a:xfrm>
                <a:prstGeom prst="rightArrow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67" name="타원 66"/>
                <p:cNvSpPr/>
                <p:nvPr/>
              </p:nvSpPr>
              <p:spPr>
                <a:xfrm>
                  <a:off x="10148546" y="4440092"/>
                  <a:ext cx="82372" cy="7705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cxnSp>
              <p:nvCxnSpPr>
                <p:cNvPr id="68" name="직선 연결선 67"/>
                <p:cNvCxnSpPr/>
                <p:nvPr/>
              </p:nvCxnSpPr>
              <p:spPr>
                <a:xfrm flipV="1">
                  <a:off x="10179995" y="1974219"/>
                  <a:ext cx="17537" cy="32748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타원 73"/>
                <p:cNvSpPr/>
                <p:nvPr/>
              </p:nvSpPr>
              <p:spPr>
                <a:xfrm>
                  <a:off x="8442513" y="4440092"/>
                  <a:ext cx="82372" cy="7705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80" name="오른쪽 화살표 79"/>
                <p:cNvSpPr/>
                <p:nvPr/>
              </p:nvSpPr>
              <p:spPr>
                <a:xfrm>
                  <a:off x="8581931" y="3361272"/>
                  <a:ext cx="166297" cy="77059"/>
                </a:xfrm>
                <a:prstGeom prst="rightArrow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81" name="오른쪽 화살표 80"/>
                <p:cNvSpPr/>
                <p:nvPr/>
              </p:nvSpPr>
              <p:spPr>
                <a:xfrm>
                  <a:off x="9964823" y="3361272"/>
                  <a:ext cx="166297" cy="77059"/>
                </a:xfrm>
                <a:prstGeom prst="rightArrow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82" name="타원 81"/>
                <p:cNvSpPr/>
                <p:nvPr/>
              </p:nvSpPr>
              <p:spPr>
                <a:xfrm>
                  <a:off x="10145414" y="3361272"/>
                  <a:ext cx="82372" cy="7705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50" name="오른쪽 화살표 49"/>
                <p:cNvSpPr/>
                <p:nvPr/>
              </p:nvSpPr>
              <p:spPr>
                <a:xfrm>
                  <a:off x="6942255" y="4440092"/>
                  <a:ext cx="166297" cy="77059"/>
                </a:xfrm>
                <a:prstGeom prst="rightArrow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sp>
            <p:nvSpPr>
              <p:cNvPr id="58" name="직사각형 57"/>
              <p:cNvSpPr/>
              <p:nvPr/>
            </p:nvSpPr>
            <p:spPr>
              <a:xfrm>
                <a:off x="10615452" y="6105438"/>
                <a:ext cx="556707" cy="520799"/>
              </a:xfrm>
              <a:prstGeom prst="rect">
                <a:avLst/>
              </a:prstGeom>
              <a:solidFill>
                <a:srgbClr val="FF5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grpSp>
            <p:nvGrpSpPr>
              <p:cNvPr id="9" name="그룹 8"/>
              <p:cNvGrpSpPr/>
              <p:nvPr/>
            </p:nvGrpSpPr>
            <p:grpSpPr>
              <a:xfrm>
                <a:off x="9942692" y="5473611"/>
                <a:ext cx="1229468" cy="1152626"/>
                <a:chOff x="7240875" y="5258852"/>
                <a:chExt cx="1152128" cy="1080120"/>
              </a:xfrm>
            </p:grpSpPr>
            <p:sp>
              <p:nvSpPr>
                <p:cNvPr id="64" name="직사각형 63"/>
                <p:cNvSpPr/>
                <p:nvPr/>
              </p:nvSpPr>
              <p:spPr>
                <a:xfrm>
                  <a:off x="7240875" y="5850934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69" name="직사각형 68"/>
                <p:cNvSpPr/>
                <p:nvPr/>
              </p:nvSpPr>
              <p:spPr>
                <a:xfrm>
                  <a:off x="7871315" y="5258852"/>
                  <a:ext cx="521688" cy="48803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5043" tIns="47521" rIns="95043" bIns="47521"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sp>
            <p:nvSpPr>
              <p:cNvPr id="70" name="직사각형 69"/>
              <p:cNvSpPr/>
              <p:nvPr/>
            </p:nvSpPr>
            <p:spPr>
              <a:xfrm>
                <a:off x="10615452" y="6105476"/>
                <a:ext cx="556707" cy="52079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10480043" y="4074649"/>
                    <a:ext cx="649473" cy="3511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82" i="1">
                              <a:latin typeface="Cambria Math"/>
                            </a:rPr>
                            <m:t>(</m:t>
                          </m:r>
                          <m:r>
                            <a:rPr lang="en-US" altLang="ko-KR" sz="1682" i="1">
                              <a:latin typeface="Cambria Math"/>
                            </a:rPr>
                            <m:t>𝑖</m:t>
                          </m:r>
                          <m:r>
                            <a:rPr lang="en-US" altLang="ko-KR" sz="1682" i="1">
                              <a:latin typeface="Cambria Math"/>
                            </a:rPr>
                            <m:t>, </m:t>
                          </m:r>
                          <m:r>
                            <a:rPr lang="en-US" altLang="ko-KR" sz="1682" i="1">
                              <a:latin typeface="Cambria Math"/>
                            </a:rPr>
                            <m:t>𝑗</m:t>
                          </m:r>
                          <m:r>
                            <a:rPr lang="en-US" altLang="ko-KR" sz="1682" i="1">
                              <a:latin typeface="Cambria Math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682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80043" y="4074649"/>
                    <a:ext cx="649473" cy="35118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379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85876553-9055-46C1-9B84-2D28B4F6911A}"/>
                      </a:ext>
                    </a:extLst>
                  </p:cNvPr>
                  <p:cNvSpPr txBox="1"/>
                  <p:nvPr/>
                </p:nvSpPr>
                <p:spPr>
                  <a:xfrm>
                    <a:off x="9220817" y="1911825"/>
                    <a:ext cx="22685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85876553-9055-46C1-9B84-2D28B4F691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0817" y="1911825"/>
                    <a:ext cx="22685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3684" r="-21053" b="-652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0C46E9EE-40D8-4C64-9A6F-833BDD80CB7E}"/>
                      </a:ext>
                    </a:extLst>
                  </p:cNvPr>
                  <p:cNvSpPr txBox="1"/>
                  <p:nvPr/>
                </p:nvSpPr>
                <p:spPr>
                  <a:xfrm>
                    <a:off x="9568224" y="6113468"/>
                    <a:ext cx="3406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0C46E9EE-40D8-4C64-9A6F-833BDD80CB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8224" y="6113468"/>
                    <a:ext cx="340671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42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A44AA3EA-1ACD-49DD-B0B3-5721A2EE3BBF}"/>
                      </a:ext>
                    </a:extLst>
                  </p:cNvPr>
                  <p:cNvSpPr txBox="1"/>
                  <p:nvPr/>
                </p:nvSpPr>
                <p:spPr>
                  <a:xfrm>
                    <a:off x="10302377" y="5490452"/>
                    <a:ext cx="31181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A44AA3EA-1ACD-49DD-B0B3-5721A2EE3B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02377" y="5490452"/>
                    <a:ext cx="31181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5686" b="-652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A174902-7A15-449A-8D36-B15C263FE642}"/>
                  </a:ext>
                </a:extLst>
              </p:cNvPr>
              <p:cNvSpPr txBox="1"/>
              <p:nvPr/>
            </p:nvSpPr>
            <p:spPr>
              <a:xfrm>
                <a:off x="8643133" y="5473611"/>
                <a:ext cx="707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 = 0</a:t>
                </a:r>
                <a:endParaRPr lang="ko-KR" altLang="en-US" dirty="0"/>
              </a:p>
            </p:txBody>
          </p:sp>
        </p:grp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C604AB0-9EF0-473A-8049-6DBA6FDE233C}"/>
              </a:ext>
            </a:extLst>
          </p:cNvPr>
          <p:cNvGrpSpPr/>
          <p:nvPr/>
        </p:nvGrpSpPr>
        <p:grpSpPr>
          <a:xfrm>
            <a:off x="847836" y="1993587"/>
            <a:ext cx="6386833" cy="4362724"/>
            <a:chOff x="921565" y="2047731"/>
            <a:chExt cx="6149583" cy="4200663"/>
          </a:xfrm>
        </p:grpSpPr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D9B87255-5FED-406F-B30F-402D75284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565" y="2047731"/>
              <a:ext cx="6149583" cy="4200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0D8340BB-9017-4222-BE66-F64E165E45A2}"/>
                </a:ext>
              </a:extLst>
            </p:cNvPr>
            <p:cNvCxnSpPr/>
            <p:nvPr/>
          </p:nvCxnSpPr>
          <p:spPr>
            <a:xfrm>
              <a:off x="3056200" y="4592722"/>
              <a:ext cx="846701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FF57293-BC41-48D2-81A3-1852427A6A12}"/>
                </a:ext>
              </a:extLst>
            </p:cNvPr>
            <p:cNvCxnSpPr>
              <a:cxnSpLocks/>
            </p:cNvCxnSpPr>
            <p:nvPr/>
          </p:nvCxnSpPr>
          <p:spPr>
            <a:xfrm>
              <a:off x="4112539" y="4592722"/>
              <a:ext cx="1298757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ABAAC13-68EA-4207-8F90-85A74E84A813}"/>
                </a:ext>
              </a:extLst>
            </p:cNvPr>
            <p:cNvCxnSpPr/>
            <p:nvPr/>
          </p:nvCxnSpPr>
          <p:spPr>
            <a:xfrm>
              <a:off x="5682559" y="4592721"/>
              <a:ext cx="216664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B5DCEF0C-CB04-4A53-B03C-2D82169986DF}"/>
                </a:ext>
              </a:extLst>
            </p:cNvPr>
            <p:cNvCxnSpPr>
              <a:cxnSpLocks/>
            </p:cNvCxnSpPr>
            <p:nvPr/>
          </p:nvCxnSpPr>
          <p:spPr>
            <a:xfrm>
              <a:off x="3056200" y="4796991"/>
              <a:ext cx="2626359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293704AE-7765-4521-BA4E-35EC7256EBA7}"/>
                </a:ext>
              </a:extLst>
            </p:cNvPr>
            <p:cNvCxnSpPr/>
            <p:nvPr/>
          </p:nvCxnSpPr>
          <p:spPr>
            <a:xfrm>
              <a:off x="5895123" y="4796991"/>
              <a:ext cx="2936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3B5728A4-614A-4C70-82A9-F8A7B3D7F02C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4968441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19CA4408-6F70-4FB6-AE39-6FB4404232E5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5714960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449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공유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메모리를 이용한 행렬 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243" dirty="0"/>
              <a:t>전역 메모리 데이터를 단계적으로 공유 메모리로 옮겨서 사용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E9AFB14-407F-433A-AEE7-B54C16FCDAE2}"/>
              </a:ext>
            </a:extLst>
          </p:cNvPr>
          <p:cNvGrpSpPr/>
          <p:nvPr/>
        </p:nvGrpSpPr>
        <p:grpSpPr>
          <a:xfrm>
            <a:off x="7458004" y="1511542"/>
            <a:ext cx="3897199" cy="4844769"/>
            <a:chOff x="7447158" y="1781468"/>
            <a:chExt cx="3897199" cy="4844769"/>
          </a:xfrm>
        </p:grpSpPr>
        <p:grpSp>
          <p:nvGrpSpPr>
            <p:cNvPr id="7" name="그룹 6"/>
            <p:cNvGrpSpPr/>
            <p:nvPr/>
          </p:nvGrpSpPr>
          <p:grpSpPr>
            <a:xfrm>
              <a:off x="7545862" y="1781468"/>
              <a:ext cx="3798495" cy="3494728"/>
              <a:chOff x="6942255" y="1974219"/>
              <a:chExt cx="3559550" cy="3274891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8772001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9293688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815374" y="2128336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8772001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293688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9815376" y="2616374"/>
                <a:ext cx="521686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772001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9293688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9815374" y="3104410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7124567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7646255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8167941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7124567" y="4150132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7646255" y="4150132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8167941" y="4150132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7124567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7646255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8167941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8772000" y="3662094"/>
                <a:ext cx="1565061" cy="1464113"/>
                <a:chOff x="4830553" y="4745004"/>
                <a:chExt cx="1944216" cy="1944216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4830553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5478625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1" name="직사각형 40"/>
                <p:cNvSpPr/>
                <p:nvPr/>
              </p:nvSpPr>
              <p:spPr>
                <a:xfrm>
                  <a:off x="6126697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4830553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78625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4" name="직사각형 43"/>
                <p:cNvSpPr/>
                <p:nvPr/>
              </p:nvSpPr>
              <p:spPr>
                <a:xfrm>
                  <a:off x="6126697" y="5393076"/>
                  <a:ext cx="648072" cy="64807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4830553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5478625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6126697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cxnSp>
            <p:nvCxnSpPr>
              <p:cNvPr id="55" name="직선 연결선 54"/>
              <p:cNvCxnSpPr/>
              <p:nvPr/>
            </p:nvCxnSpPr>
            <p:spPr>
              <a:xfrm>
                <a:off x="7124567" y="4478621"/>
                <a:ext cx="337723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오른쪽 화살표 64"/>
              <p:cNvSpPr/>
              <p:nvPr/>
            </p:nvSpPr>
            <p:spPr>
              <a:xfrm>
                <a:off x="7970502" y="4440092"/>
                <a:ext cx="166297" cy="77059"/>
              </a:xfrm>
              <a:prstGeom prst="rightArrow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6" name="오른쪽 화살표 65"/>
              <p:cNvSpPr/>
              <p:nvPr/>
            </p:nvSpPr>
            <p:spPr>
              <a:xfrm>
                <a:off x="8276217" y="444009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0148546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cxnSp>
            <p:nvCxnSpPr>
              <p:cNvPr id="68" name="직선 연결선 67"/>
              <p:cNvCxnSpPr/>
              <p:nvPr/>
            </p:nvCxnSpPr>
            <p:spPr>
              <a:xfrm flipV="1">
                <a:off x="10179995" y="1974219"/>
                <a:ext cx="17537" cy="327489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타원 73"/>
              <p:cNvSpPr/>
              <p:nvPr/>
            </p:nvSpPr>
            <p:spPr>
              <a:xfrm>
                <a:off x="8442513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0" name="오른쪽 화살표 79"/>
              <p:cNvSpPr/>
              <p:nvPr/>
            </p:nvSpPr>
            <p:spPr>
              <a:xfrm>
                <a:off x="8581931" y="336127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1" name="오른쪽 화살표 80"/>
              <p:cNvSpPr/>
              <p:nvPr/>
            </p:nvSpPr>
            <p:spPr>
              <a:xfrm>
                <a:off x="9964823" y="336127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2" name="타원 81"/>
              <p:cNvSpPr/>
              <p:nvPr/>
            </p:nvSpPr>
            <p:spPr>
              <a:xfrm>
                <a:off x="10145414" y="336127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50" name="오른쪽 화살표 49"/>
              <p:cNvSpPr/>
              <p:nvPr/>
            </p:nvSpPr>
            <p:spPr>
              <a:xfrm>
                <a:off x="6942255" y="444009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82" i="1">
                            <a:latin typeface="Cambria Math"/>
                          </a:rPr>
                          <m:t>(</m:t>
                        </m:r>
                        <m:r>
                          <a:rPr lang="en-US" altLang="ko-KR" sz="1682" i="1">
                            <a:latin typeface="Cambria Math"/>
                          </a:rPr>
                          <m:t>𝑖</m:t>
                        </m:r>
                        <m:r>
                          <a:rPr lang="en-US" altLang="ko-KR" sz="1682" i="1">
                            <a:latin typeface="Cambria Math"/>
                          </a:rPr>
                          <m:t>, </m:t>
                        </m:r>
                        <m:r>
                          <a:rPr lang="en-US" altLang="ko-KR" sz="1682" i="1">
                            <a:latin typeface="Cambria Math"/>
                          </a:rPr>
                          <m:t>𝑗</m:t>
                        </m:r>
                        <m:r>
                          <a:rPr lang="en-US" altLang="ko-KR" sz="1682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sz="1682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blipFill>
                  <a:blip r:embed="rId2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/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/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3684" r="-21053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/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14286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/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5686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7C44B1A-AE00-4925-88FB-9A7E58B23B36}"/>
                </a:ext>
              </a:extLst>
            </p:cNvPr>
            <p:cNvSpPr txBox="1"/>
            <p:nvPr/>
          </p:nvSpPr>
          <p:spPr>
            <a:xfrm>
              <a:off x="8643133" y="5473611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 = 1</a:t>
              </a:r>
              <a:endParaRPr lang="ko-KR" altLang="en-US" dirty="0"/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FF4D8632-8292-4AFC-89F7-82270FAF5A81}"/>
                </a:ext>
              </a:extLst>
            </p:cNvPr>
            <p:cNvGrpSpPr/>
            <p:nvPr/>
          </p:nvGrpSpPr>
          <p:grpSpPr>
            <a:xfrm>
              <a:off x="9942692" y="5473611"/>
              <a:ext cx="1229468" cy="1152626"/>
              <a:chOff x="9145455" y="6013182"/>
              <a:chExt cx="1152128" cy="1080120"/>
            </a:xfrm>
          </p:grpSpPr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5C65335D-A385-452F-BF78-C609AE2A549D}"/>
                  </a:ext>
                </a:extLst>
              </p:cNvPr>
              <p:cNvSpPr/>
              <p:nvPr/>
            </p:nvSpPr>
            <p:spPr>
              <a:xfrm>
                <a:off x="9145455" y="6605264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9E6DC25B-A5B7-482F-91C6-7DDB84B7C832}"/>
                  </a:ext>
                </a:extLst>
              </p:cNvPr>
              <p:cNvSpPr/>
              <p:nvPr/>
            </p:nvSpPr>
            <p:spPr>
              <a:xfrm>
                <a:off x="9775895" y="6013182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1691CF7-B33D-4768-9EA0-F1037FB76C52}"/>
                </a:ext>
              </a:extLst>
            </p:cNvPr>
            <p:cNvSpPr/>
            <p:nvPr/>
          </p:nvSpPr>
          <p:spPr>
            <a:xfrm>
              <a:off x="10615452" y="6105438"/>
              <a:ext cx="556707" cy="520799"/>
            </a:xfrm>
            <a:prstGeom prst="rect">
              <a:avLst/>
            </a:prstGeom>
            <a:solidFill>
              <a:srgbClr val="FF5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043" tIns="47521" rIns="95043" bIns="47521" rtlCol="0" anchor="ctr"/>
            <a:lstStyle/>
            <a:p>
              <a:pPr algn="ctr"/>
              <a:endParaRPr lang="ko-KR" altLang="en-US" sz="1682"/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AF722A39-BBD5-4935-B2B9-C4FE79A05CBF}"/>
              </a:ext>
            </a:extLst>
          </p:cNvPr>
          <p:cNvGrpSpPr/>
          <p:nvPr/>
        </p:nvGrpSpPr>
        <p:grpSpPr>
          <a:xfrm>
            <a:off x="847836" y="1993587"/>
            <a:ext cx="6386833" cy="4362724"/>
            <a:chOff x="921565" y="2047731"/>
            <a:chExt cx="6149583" cy="4200663"/>
          </a:xfrm>
        </p:grpSpPr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36F5E781-4206-4E3F-B98D-A708D1817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565" y="2047731"/>
              <a:ext cx="6149583" cy="4200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AE724308-BACD-4481-956C-2173E27FB783}"/>
                </a:ext>
              </a:extLst>
            </p:cNvPr>
            <p:cNvCxnSpPr/>
            <p:nvPr/>
          </p:nvCxnSpPr>
          <p:spPr>
            <a:xfrm>
              <a:off x="3056200" y="4592722"/>
              <a:ext cx="846701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1B85D21E-A997-4F75-AAD5-F32CCD267850}"/>
                </a:ext>
              </a:extLst>
            </p:cNvPr>
            <p:cNvCxnSpPr>
              <a:cxnSpLocks/>
            </p:cNvCxnSpPr>
            <p:nvPr/>
          </p:nvCxnSpPr>
          <p:spPr>
            <a:xfrm>
              <a:off x="4112539" y="4592722"/>
              <a:ext cx="1298757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2731CDD3-43B3-4DD1-AFDB-47FBB72A0B56}"/>
                </a:ext>
              </a:extLst>
            </p:cNvPr>
            <p:cNvCxnSpPr/>
            <p:nvPr/>
          </p:nvCxnSpPr>
          <p:spPr>
            <a:xfrm>
              <a:off x="5682559" y="4592721"/>
              <a:ext cx="216664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6D494419-380D-4CE6-A779-70B93EB1FA85}"/>
                </a:ext>
              </a:extLst>
            </p:cNvPr>
            <p:cNvCxnSpPr>
              <a:cxnSpLocks/>
            </p:cNvCxnSpPr>
            <p:nvPr/>
          </p:nvCxnSpPr>
          <p:spPr>
            <a:xfrm>
              <a:off x="3056200" y="4796991"/>
              <a:ext cx="2626359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675D06E8-9337-44E3-957D-E5C686B1FF4C}"/>
                </a:ext>
              </a:extLst>
            </p:cNvPr>
            <p:cNvCxnSpPr/>
            <p:nvPr/>
          </p:nvCxnSpPr>
          <p:spPr>
            <a:xfrm>
              <a:off x="5895123" y="4796991"/>
              <a:ext cx="2936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6346B8B4-481A-4A93-B082-4916A2FA18AD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4968441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77A1890-0090-4316-B2B8-0C6E40961562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5714960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66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공유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메모리를 이용한 행렬 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243" dirty="0"/>
              <a:t>전역 메모리 데이터를 단계적으로 공유 메모리로 옮겨서 사용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F66170-F8C3-4D69-A4D3-CB015759C0AC}"/>
              </a:ext>
            </a:extLst>
          </p:cNvPr>
          <p:cNvGrpSpPr/>
          <p:nvPr/>
        </p:nvGrpSpPr>
        <p:grpSpPr>
          <a:xfrm>
            <a:off x="7456601" y="1511542"/>
            <a:ext cx="3897199" cy="4844769"/>
            <a:chOff x="7447158" y="1781468"/>
            <a:chExt cx="3897199" cy="4844769"/>
          </a:xfrm>
        </p:grpSpPr>
        <p:grpSp>
          <p:nvGrpSpPr>
            <p:cNvPr id="14" name="그룹 13"/>
            <p:cNvGrpSpPr/>
            <p:nvPr/>
          </p:nvGrpSpPr>
          <p:grpSpPr>
            <a:xfrm>
              <a:off x="9942692" y="5473611"/>
              <a:ext cx="1229468" cy="1152626"/>
              <a:chOff x="8110339" y="5613722"/>
              <a:chExt cx="1152128" cy="1080120"/>
            </a:xfrm>
          </p:grpSpPr>
          <p:sp>
            <p:nvSpPr>
              <p:cNvPr id="56" name="직사각형 55"/>
              <p:cNvSpPr/>
              <p:nvPr/>
            </p:nvSpPr>
            <p:spPr>
              <a:xfrm>
                <a:off x="8110339" y="6205804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8740779" y="5613722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7545862" y="1781468"/>
              <a:ext cx="3798495" cy="3494728"/>
              <a:chOff x="6942255" y="1974219"/>
              <a:chExt cx="3559550" cy="3274891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8772001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9293688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815374" y="2128336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8772001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293688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9815376" y="2616374"/>
                <a:ext cx="521686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772001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9293688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9815374" y="3104410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7124567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7646255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8167941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7124567" y="4150132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7646255" y="4150132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8167941" y="4150132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7124567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7646255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8167941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8772000" y="3662094"/>
                <a:ext cx="1565061" cy="1464113"/>
                <a:chOff x="4830553" y="4745004"/>
                <a:chExt cx="1944216" cy="1944216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4830553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5478625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1" name="직사각형 40"/>
                <p:cNvSpPr/>
                <p:nvPr/>
              </p:nvSpPr>
              <p:spPr>
                <a:xfrm>
                  <a:off x="6126697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4830553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78625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4" name="직사각형 43"/>
                <p:cNvSpPr/>
                <p:nvPr/>
              </p:nvSpPr>
              <p:spPr>
                <a:xfrm>
                  <a:off x="6126697" y="5393076"/>
                  <a:ext cx="648072" cy="64807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4830553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5478625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6126697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cxnSp>
            <p:nvCxnSpPr>
              <p:cNvPr id="55" name="직선 연결선 54"/>
              <p:cNvCxnSpPr/>
              <p:nvPr/>
            </p:nvCxnSpPr>
            <p:spPr>
              <a:xfrm>
                <a:off x="7124567" y="4478621"/>
                <a:ext cx="337723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오른쪽 화살표 64"/>
              <p:cNvSpPr/>
              <p:nvPr/>
            </p:nvSpPr>
            <p:spPr>
              <a:xfrm>
                <a:off x="7970502" y="4440092"/>
                <a:ext cx="166297" cy="77059"/>
              </a:xfrm>
              <a:prstGeom prst="rightArrow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6" name="오른쪽 화살표 65"/>
              <p:cNvSpPr/>
              <p:nvPr/>
            </p:nvSpPr>
            <p:spPr>
              <a:xfrm>
                <a:off x="8276217" y="444009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0148546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cxnSp>
            <p:nvCxnSpPr>
              <p:cNvPr id="68" name="직선 연결선 67"/>
              <p:cNvCxnSpPr/>
              <p:nvPr/>
            </p:nvCxnSpPr>
            <p:spPr>
              <a:xfrm flipV="1">
                <a:off x="10179995" y="1974219"/>
                <a:ext cx="17537" cy="327489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타원 73"/>
              <p:cNvSpPr/>
              <p:nvPr/>
            </p:nvSpPr>
            <p:spPr>
              <a:xfrm>
                <a:off x="8442513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0" name="오른쪽 화살표 79"/>
              <p:cNvSpPr/>
              <p:nvPr/>
            </p:nvSpPr>
            <p:spPr>
              <a:xfrm>
                <a:off x="8581931" y="336127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1" name="오른쪽 화살표 80"/>
              <p:cNvSpPr/>
              <p:nvPr/>
            </p:nvSpPr>
            <p:spPr>
              <a:xfrm>
                <a:off x="9964823" y="336127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2" name="타원 81"/>
              <p:cNvSpPr/>
              <p:nvPr/>
            </p:nvSpPr>
            <p:spPr>
              <a:xfrm>
                <a:off x="10145414" y="336127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50" name="오른쪽 화살표 49"/>
              <p:cNvSpPr/>
              <p:nvPr/>
            </p:nvSpPr>
            <p:spPr>
              <a:xfrm>
                <a:off x="6942255" y="444009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9942692" y="5473611"/>
              <a:ext cx="1229468" cy="1152626"/>
              <a:chOff x="9145455" y="6013182"/>
              <a:chExt cx="1152128" cy="1080120"/>
            </a:xfrm>
          </p:grpSpPr>
          <p:sp>
            <p:nvSpPr>
              <p:cNvPr id="59" name="직사각형 58"/>
              <p:cNvSpPr/>
              <p:nvPr/>
            </p:nvSpPr>
            <p:spPr>
              <a:xfrm>
                <a:off x="9145455" y="6605264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0" name="직사각형 59"/>
              <p:cNvSpPr/>
              <p:nvPr/>
            </p:nvSpPr>
            <p:spPr>
              <a:xfrm>
                <a:off x="9775895" y="6013182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9942692" y="5473611"/>
              <a:ext cx="1229468" cy="1152626"/>
              <a:chOff x="7240875" y="5258852"/>
              <a:chExt cx="1152128" cy="1080120"/>
            </a:xfrm>
          </p:grpSpPr>
          <p:sp>
            <p:nvSpPr>
              <p:cNvPr id="64" name="직사각형 63"/>
              <p:cNvSpPr/>
              <p:nvPr/>
            </p:nvSpPr>
            <p:spPr>
              <a:xfrm>
                <a:off x="7240875" y="585093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7871315" y="5258852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82" i="1">
                            <a:latin typeface="Cambria Math"/>
                          </a:rPr>
                          <m:t>(</m:t>
                        </m:r>
                        <m:r>
                          <a:rPr lang="en-US" altLang="ko-KR" sz="1682" i="1">
                            <a:latin typeface="Cambria Math"/>
                          </a:rPr>
                          <m:t>𝑖</m:t>
                        </m:r>
                        <m:r>
                          <a:rPr lang="en-US" altLang="ko-KR" sz="1682" i="1">
                            <a:latin typeface="Cambria Math"/>
                          </a:rPr>
                          <m:t>, </m:t>
                        </m:r>
                        <m:r>
                          <a:rPr lang="en-US" altLang="ko-KR" sz="1682" i="1">
                            <a:latin typeface="Cambria Math"/>
                          </a:rPr>
                          <m:t>𝑗</m:t>
                        </m:r>
                        <m:r>
                          <a:rPr lang="en-US" altLang="ko-KR" sz="1682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sz="1682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blipFill>
                  <a:blip r:embed="rId2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/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/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4324" r="-24324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/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14286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/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5686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7C44B1A-AE00-4925-88FB-9A7E58B23B36}"/>
                </a:ext>
              </a:extLst>
            </p:cNvPr>
            <p:cNvSpPr txBox="1"/>
            <p:nvPr/>
          </p:nvSpPr>
          <p:spPr>
            <a:xfrm>
              <a:off x="8643133" y="5473611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 = 1</a:t>
              </a:r>
              <a:endParaRPr lang="ko-KR" altLang="en-US" dirty="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0129C08-BD4A-4454-B567-FC59E0C914A0}"/>
                </a:ext>
              </a:extLst>
            </p:cNvPr>
            <p:cNvSpPr/>
            <p:nvPr/>
          </p:nvSpPr>
          <p:spPr>
            <a:xfrm>
              <a:off x="10615452" y="6105438"/>
              <a:ext cx="556707" cy="520799"/>
            </a:xfrm>
            <a:prstGeom prst="rect">
              <a:avLst/>
            </a:prstGeom>
            <a:solidFill>
              <a:srgbClr val="FFCC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043" tIns="47521" rIns="95043" bIns="47521" rtlCol="0" anchor="ctr"/>
            <a:lstStyle/>
            <a:p>
              <a:pPr algn="ctr"/>
              <a:endParaRPr lang="ko-KR" altLang="en-US" sz="1682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8E327DE-97B4-412F-ADD9-553458542A5B}"/>
              </a:ext>
            </a:extLst>
          </p:cNvPr>
          <p:cNvGrpSpPr/>
          <p:nvPr/>
        </p:nvGrpSpPr>
        <p:grpSpPr>
          <a:xfrm>
            <a:off x="847836" y="1993587"/>
            <a:ext cx="6386833" cy="4362724"/>
            <a:chOff x="921565" y="2047731"/>
            <a:chExt cx="6149583" cy="4200663"/>
          </a:xfrm>
        </p:grpSpPr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5570175E-91CF-4406-A7B5-89770E88F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565" y="2047731"/>
              <a:ext cx="6149583" cy="4200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AA135FE0-BBB9-4EDB-94AD-6EB597A40BA5}"/>
                </a:ext>
              </a:extLst>
            </p:cNvPr>
            <p:cNvCxnSpPr/>
            <p:nvPr/>
          </p:nvCxnSpPr>
          <p:spPr>
            <a:xfrm>
              <a:off x="3056200" y="4592722"/>
              <a:ext cx="846701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2D979E70-2B2A-4BD5-AD6F-03B43296E130}"/>
                </a:ext>
              </a:extLst>
            </p:cNvPr>
            <p:cNvCxnSpPr>
              <a:cxnSpLocks/>
            </p:cNvCxnSpPr>
            <p:nvPr/>
          </p:nvCxnSpPr>
          <p:spPr>
            <a:xfrm>
              <a:off x="4112539" y="4592722"/>
              <a:ext cx="1298757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D5952CF7-1E0C-4E07-B1D4-27702E0CDAB1}"/>
                </a:ext>
              </a:extLst>
            </p:cNvPr>
            <p:cNvCxnSpPr/>
            <p:nvPr/>
          </p:nvCxnSpPr>
          <p:spPr>
            <a:xfrm>
              <a:off x="5682559" y="4592721"/>
              <a:ext cx="216664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FE7E9100-F4B3-4B7F-80FB-DF57A7769027}"/>
                </a:ext>
              </a:extLst>
            </p:cNvPr>
            <p:cNvCxnSpPr>
              <a:cxnSpLocks/>
            </p:cNvCxnSpPr>
            <p:nvPr/>
          </p:nvCxnSpPr>
          <p:spPr>
            <a:xfrm>
              <a:off x="3056200" y="4796991"/>
              <a:ext cx="2626359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06170713-A912-477C-B458-54C45ABBCD2F}"/>
                </a:ext>
              </a:extLst>
            </p:cNvPr>
            <p:cNvCxnSpPr/>
            <p:nvPr/>
          </p:nvCxnSpPr>
          <p:spPr>
            <a:xfrm>
              <a:off x="5895123" y="4796991"/>
              <a:ext cx="2936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0B072ECC-68B0-4CEA-AC64-EF75B049E5A2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4968441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B84C49DB-C090-4090-B0F2-59CFFC1015CE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5714960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521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공유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메모리를 이용한 행렬 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243" dirty="0"/>
              <a:t>전역 메모리 데이터를 단계적으로 공유 메모리로 옮겨서 사용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33AE6D7-ABC1-4D8F-870F-BD91760E5F93}"/>
              </a:ext>
            </a:extLst>
          </p:cNvPr>
          <p:cNvGrpSpPr/>
          <p:nvPr/>
        </p:nvGrpSpPr>
        <p:grpSpPr>
          <a:xfrm>
            <a:off x="7458004" y="1510829"/>
            <a:ext cx="3897199" cy="4844807"/>
            <a:chOff x="7447158" y="1781468"/>
            <a:chExt cx="3897199" cy="4844807"/>
          </a:xfrm>
        </p:grpSpPr>
        <p:grpSp>
          <p:nvGrpSpPr>
            <p:cNvPr id="7" name="그룹 6"/>
            <p:cNvGrpSpPr/>
            <p:nvPr/>
          </p:nvGrpSpPr>
          <p:grpSpPr>
            <a:xfrm>
              <a:off x="7545862" y="1781468"/>
              <a:ext cx="3798495" cy="3494728"/>
              <a:chOff x="6942255" y="1974219"/>
              <a:chExt cx="3559550" cy="3274891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8772001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9293688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815374" y="2128336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8772001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293688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9815376" y="2616374"/>
                <a:ext cx="521686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772001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9293688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9815374" y="3104410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7124567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7646255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8167941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7124567" y="4150132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7646255" y="4150132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8167941" y="4150132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7124567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7646255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8167941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8772000" y="3662094"/>
                <a:ext cx="1565061" cy="1464113"/>
                <a:chOff x="4830553" y="4745004"/>
                <a:chExt cx="1944216" cy="1944216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4830553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5478625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 dirty="0"/>
                </a:p>
              </p:txBody>
            </p:sp>
            <p:sp>
              <p:nvSpPr>
                <p:cNvPr id="41" name="직사각형 40"/>
                <p:cNvSpPr/>
                <p:nvPr/>
              </p:nvSpPr>
              <p:spPr>
                <a:xfrm>
                  <a:off x="6126697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4830553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78625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4" name="직사각형 43"/>
                <p:cNvSpPr/>
                <p:nvPr/>
              </p:nvSpPr>
              <p:spPr>
                <a:xfrm>
                  <a:off x="6126697" y="5393076"/>
                  <a:ext cx="648072" cy="64807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4830553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5478625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6126697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cxnSp>
            <p:nvCxnSpPr>
              <p:cNvPr id="55" name="직선 연결선 54"/>
              <p:cNvCxnSpPr/>
              <p:nvPr/>
            </p:nvCxnSpPr>
            <p:spPr>
              <a:xfrm>
                <a:off x="7124567" y="4478621"/>
                <a:ext cx="337723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오른쪽 화살표 64"/>
              <p:cNvSpPr/>
              <p:nvPr/>
            </p:nvSpPr>
            <p:spPr>
              <a:xfrm>
                <a:off x="7970502" y="4440092"/>
                <a:ext cx="166297" cy="77059"/>
              </a:xfrm>
              <a:prstGeom prst="rightArrow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6" name="오른쪽 화살표 65"/>
              <p:cNvSpPr/>
              <p:nvPr/>
            </p:nvSpPr>
            <p:spPr>
              <a:xfrm>
                <a:off x="8276217" y="444009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0148546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cxnSp>
            <p:nvCxnSpPr>
              <p:cNvPr id="68" name="직선 연결선 67"/>
              <p:cNvCxnSpPr/>
              <p:nvPr/>
            </p:nvCxnSpPr>
            <p:spPr>
              <a:xfrm flipV="1">
                <a:off x="10179995" y="1974219"/>
                <a:ext cx="17537" cy="327489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타원 73"/>
              <p:cNvSpPr/>
              <p:nvPr/>
            </p:nvSpPr>
            <p:spPr>
              <a:xfrm>
                <a:off x="8442513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0" name="오른쪽 화살표 79"/>
              <p:cNvSpPr/>
              <p:nvPr/>
            </p:nvSpPr>
            <p:spPr>
              <a:xfrm>
                <a:off x="8581931" y="336127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1" name="오른쪽 화살표 80"/>
              <p:cNvSpPr/>
              <p:nvPr/>
            </p:nvSpPr>
            <p:spPr>
              <a:xfrm>
                <a:off x="9964823" y="336127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2" name="타원 81"/>
              <p:cNvSpPr/>
              <p:nvPr/>
            </p:nvSpPr>
            <p:spPr>
              <a:xfrm>
                <a:off x="10145414" y="336127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50" name="오른쪽 화살표 49"/>
              <p:cNvSpPr/>
              <p:nvPr/>
            </p:nvSpPr>
            <p:spPr>
              <a:xfrm>
                <a:off x="6942255" y="444009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sp>
          <p:nvSpPr>
            <p:cNvPr id="58" name="직사각형 57"/>
            <p:cNvSpPr/>
            <p:nvPr/>
          </p:nvSpPr>
          <p:spPr>
            <a:xfrm>
              <a:off x="10615452" y="6105438"/>
              <a:ext cx="556707" cy="520799"/>
            </a:xfrm>
            <a:prstGeom prst="rect">
              <a:avLst/>
            </a:prstGeom>
            <a:solidFill>
              <a:srgbClr val="FF5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043" tIns="47521" rIns="95043" bIns="47521" rtlCol="0" anchor="ctr"/>
            <a:lstStyle/>
            <a:p>
              <a:pPr algn="ctr"/>
              <a:endParaRPr lang="ko-KR" altLang="en-US" sz="1682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10615452" y="6105476"/>
              <a:ext cx="556707" cy="520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043" tIns="47521" rIns="95043" bIns="47521" rtlCol="0" anchor="ctr"/>
            <a:lstStyle/>
            <a:p>
              <a:pPr algn="ctr"/>
              <a:endParaRPr lang="ko-KR" altLang="en-US" sz="1682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10615452" y="6105438"/>
              <a:ext cx="556707" cy="520799"/>
            </a:xfrm>
            <a:prstGeom prst="rect">
              <a:avLst/>
            </a:prstGeom>
            <a:solidFill>
              <a:srgbClr val="FFCC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043" tIns="47521" rIns="95043" bIns="47521" rtlCol="0" anchor="ctr"/>
            <a:lstStyle/>
            <a:p>
              <a:pPr algn="ctr"/>
              <a:endParaRPr lang="ko-KR" altLang="en-US" sz="168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82" i="1">
                            <a:latin typeface="Cambria Math"/>
                          </a:rPr>
                          <m:t>(</m:t>
                        </m:r>
                        <m:r>
                          <a:rPr lang="en-US" altLang="ko-KR" sz="1682" i="1">
                            <a:latin typeface="Cambria Math"/>
                          </a:rPr>
                          <m:t>𝑖</m:t>
                        </m:r>
                        <m:r>
                          <a:rPr lang="en-US" altLang="ko-KR" sz="1682" i="1">
                            <a:latin typeface="Cambria Math"/>
                          </a:rPr>
                          <m:t>, </m:t>
                        </m:r>
                        <m:r>
                          <a:rPr lang="en-US" altLang="ko-KR" sz="1682" i="1">
                            <a:latin typeface="Cambria Math"/>
                          </a:rPr>
                          <m:t>𝑗</m:t>
                        </m:r>
                        <m:r>
                          <a:rPr lang="en-US" altLang="ko-KR" sz="1682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sz="1682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blipFill>
                  <a:blip r:embed="rId2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/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/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3684" r="-21053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/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14286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/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5686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7C44B1A-AE00-4925-88FB-9A7E58B23B36}"/>
                </a:ext>
              </a:extLst>
            </p:cNvPr>
            <p:cNvSpPr txBox="1"/>
            <p:nvPr/>
          </p:nvSpPr>
          <p:spPr>
            <a:xfrm>
              <a:off x="8643133" y="5473611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 = 2</a:t>
              </a:r>
              <a:endParaRPr lang="ko-KR" altLang="en-US" dirty="0"/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709C630F-4055-46B5-9307-981B2DD67D51}"/>
                </a:ext>
              </a:extLst>
            </p:cNvPr>
            <p:cNvGrpSpPr/>
            <p:nvPr/>
          </p:nvGrpSpPr>
          <p:grpSpPr>
            <a:xfrm>
              <a:off x="9942692" y="5473611"/>
              <a:ext cx="1229468" cy="1152626"/>
              <a:chOff x="9297855" y="6165582"/>
              <a:chExt cx="1152128" cy="1080120"/>
            </a:xfrm>
          </p:grpSpPr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22DDEBF4-04FE-406F-8DFF-5C99F062F752}"/>
                  </a:ext>
                </a:extLst>
              </p:cNvPr>
              <p:cNvSpPr/>
              <p:nvPr/>
            </p:nvSpPr>
            <p:spPr>
              <a:xfrm>
                <a:off x="9297855" y="6757664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5D2BFE2-D6B4-4D8E-8697-E808B3E10753}"/>
                  </a:ext>
                </a:extLst>
              </p:cNvPr>
              <p:cNvSpPr/>
              <p:nvPr/>
            </p:nvSpPr>
            <p:spPr>
              <a:xfrm>
                <a:off x="9928295" y="6165582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3E17CE04-EF1B-4790-9BDF-CE553B4F29A6}"/>
              </a:ext>
            </a:extLst>
          </p:cNvPr>
          <p:cNvGrpSpPr/>
          <p:nvPr/>
        </p:nvGrpSpPr>
        <p:grpSpPr>
          <a:xfrm>
            <a:off x="847836" y="1993587"/>
            <a:ext cx="6386833" cy="4362724"/>
            <a:chOff x="921565" y="2047731"/>
            <a:chExt cx="6149583" cy="4200663"/>
          </a:xfrm>
        </p:grpSpPr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11948274-A07D-4C1E-A343-E075FCD6D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565" y="2047731"/>
              <a:ext cx="6149583" cy="4200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FB392CDC-147A-40E1-B4A8-822FA1D8AE7E}"/>
                </a:ext>
              </a:extLst>
            </p:cNvPr>
            <p:cNvCxnSpPr/>
            <p:nvPr/>
          </p:nvCxnSpPr>
          <p:spPr>
            <a:xfrm>
              <a:off x="3056200" y="4592722"/>
              <a:ext cx="846701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02BF7CEB-7ADC-44B9-B3CD-C92F784BFE2D}"/>
                </a:ext>
              </a:extLst>
            </p:cNvPr>
            <p:cNvCxnSpPr>
              <a:cxnSpLocks/>
            </p:cNvCxnSpPr>
            <p:nvPr/>
          </p:nvCxnSpPr>
          <p:spPr>
            <a:xfrm>
              <a:off x="4112539" y="4592722"/>
              <a:ext cx="1298757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84138D51-2880-4E1B-B69D-EDB2FE75A9DB}"/>
                </a:ext>
              </a:extLst>
            </p:cNvPr>
            <p:cNvCxnSpPr/>
            <p:nvPr/>
          </p:nvCxnSpPr>
          <p:spPr>
            <a:xfrm>
              <a:off x="5682559" y="4592721"/>
              <a:ext cx="216664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2A36CBDC-F7CC-455A-B09E-C40206AFF50C}"/>
                </a:ext>
              </a:extLst>
            </p:cNvPr>
            <p:cNvCxnSpPr>
              <a:cxnSpLocks/>
            </p:cNvCxnSpPr>
            <p:nvPr/>
          </p:nvCxnSpPr>
          <p:spPr>
            <a:xfrm>
              <a:off x="3056200" y="4796991"/>
              <a:ext cx="2626359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ABFAB13C-89ED-42CA-B24E-BA8F34235CC0}"/>
                </a:ext>
              </a:extLst>
            </p:cNvPr>
            <p:cNvCxnSpPr/>
            <p:nvPr/>
          </p:nvCxnSpPr>
          <p:spPr>
            <a:xfrm>
              <a:off x="5895123" y="4796991"/>
              <a:ext cx="2936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09212300-AD68-46B0-8030-26D48A312F26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4968441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4565F7DD-995E-4B13-86F1-BA93E077FDFC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5714960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765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공유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메모리를 이용한 행렬 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243" dirty="0"/>
              <a:t>전역 메모리 데이터를 단계적으로 공유 메모리로 옮겨서 사용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122A51B-AAC5-4A2B-8D56-09EE2A244F5B}"/>
              </a:ext>
            </a:extLst>
          </p:cNvPr>
          <p:cNvGrpSpPr/>
          <p:nvPr/>
        </p:nvGrpSpPr>
        <p:grpSpPr>
          <a:xfrm>
            <a:off x="7456601" y="1506168"/>
            <a:ext cx="3897199" cy="4850143"/>
            <a:chOff x="7447158" y="1781468"/>
            <a:chExt cx="3897199" cy="4850143"/>
          </a:xfrm>
        </p:grpSpPr>
        <p:grpSp>
          <p:nvGrpSpPr>
            <p:cNvPr id="7" name="그룹 6"/>
            <p:cNvGrpSpPr/>
            <p:nvPr/>
          </p:nvGrpSpPr>
          <p:grpSpPr>
            <a:xfrm>
              <a:off x="7545862" y="1781468"/>
              <a:ext cx="3798495" cy="3494728"/>
              <a:chOff x="6942255" y="1974219"/>
              <a:chExt cx="3559550" cy="3274891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8772001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9293688" y="2128336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815374" y="2128336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8772001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9293688" y="261637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9815376" y="2616374"/>
                <a:ext cx="521686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772001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9293688" y="3104410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9815374" y="3104410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7124567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7646255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8167941" y="3662094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7124567" y="4150132"/>
                <a:ext cx="521688" cy="48803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7646255" y="4150132"/>
                <a:ext cx="521688" cy="48803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8167941" y="4150132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7124567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7646255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8167941" y="4638169"/>
                <a:ext cx="521688" cy="4880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>
                <a:off x="8772000" y="3662094"/>
                <a:ext cx="1565061" cy="1464113"/>
                <a:chOff x="4830553" y="4745004"/>
                <a:chExt cx="1944216" cy="1944216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4830553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5478625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1" name="직사각형 40"/>
                <p:cNvSpPr/>
                <p:nvPr/>
              </p:nvSpPr>
              <p:spPr>
                <a:xfrm>
                  <a:off x="6126697" y="4745004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4830553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5478625" y="5393076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4" name="직사각형 43"/>
                <p:cNvSpPr/>
                <p:nvPr/>
              </p:nvSpPr>
              <p:spPr>
                <a:xfrm>
                  <a:off x="6126697" y="5393076"/>
                  <a:ext cx="648072" cy="64807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4830553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5478625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6126697" y="6041148"/>
                  <a:ext cx="648072" cy="64807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82"/>
                </a:p>
              </p:txBody>
            </p:sp>
          </p:grpSp>
          <p:cxnSp>
            <p:nvCxnSpPr>
              <p:cNvPr id="55" name="직선 연결선 54"/>
              <p:cNvCxnSpPr/>
              <p:nvPr/>
            </p:nvCxnSpPr>
            <p:spPr>
              <a:xfrm>
                <a:off x="7124567" y="4478621"/>
                <a:ext cx="337723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오른쪽 화살표 64"/>
              <p:cNvSpPr/>
              <p:nvPr/>
            </p:nvSpPr>
            <p:spPr>
              <a:xfrm>
                <a:off x="7970502" y="4440092"/>
                <a:ext cx="166297" cy="77059"/>
              </a:xfrm>
              <a:prstGeom prst="rightArrow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6" name="오른쪽 화살표 65"/>
              <p:cNvSpPr/>
              <p:nvPr/>
            </p:nvSpPr>
            <p:spPr>
              <a:xfrm>
                <a:off x="8276217" y="444009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0148546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cxnSp>
            <p:nvCxnSpPr>
              <p:cNvPr id="68" name="직선 연결선 67"/>
              <p:cNvCxnSpPr/>
              <p:nvPr/>
            </p:nvCxnSpPr>
            <p:spPr>
              <a:xfrm flipV="1">
                <a:off x="10179995" y="1974219"/>
                <a:ext cx="17537" cy="327489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타원 73"/>
              <p:cNvSpPr/>
              <p:nvPr/>
            </p:nvSpPr>
            <p:spPr>
              <a:xfrm>
                <a:off x="8442513" y="444009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0" name="오른쪽 화살표 79"/>
              <p:cNvSpPr/>
              <p:nvPr/>
            </p:nvSpPr>
            <p:spPr>
              <a:xfrm>
                <a:off x="8581931" y="336127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1" name="오른쪽 화살표 80"/>
              <p:cNvSpPr/>
              <p:nvPr/>
            </p:nvSpPr>
            <p:spPr>
              <a:xfrm>
                <a:off x="9964823" y="3361272"/>
                <a:ext cx="166297" cy="77059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2" name="타원 81"/>
              <p:cNvSpPr/>
              <p:nvPr/>
            </p:nvSpPr>
            <p:spPr>
              <a:xfrm>
                <a:off x="10145414" y="3361272"/>
                <a:ext cx="82372" cy="7705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50" name="오른쪽 화살표 49"/>
              <p:cNvSpPr/>
              <p:nvPr/>
            </p:nvSpPr>
            <p:spPr>
              <a:xfrm>
                <a:off x="6942255" y="4440092"/>
                <a:ext cx="166297" cy="77059"/>
              </a:xfrm>
              <a:prstGeom prst="rightArrow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82" i="1">
                            <a:latin typeface="Cambria Math"/>
                          </a:rPr>
                          <m:t>(</m:t>
                        </m:r>
                        <m:r>
                          <a:rPr lang="en-US" altLang="ko-KR" sz="1682" i="1">
                            <a:latin typeface="Cambria Math"/>
                          </a:rPr>
                          <m:t>𝑖</m:t>
                        </m:r>
                        <m:r>
                          <a:rPr lang="en-US" altLang="ko-KR" sz="1682" i="1">
                            <a:latin typeface="Cambria Math"/>
                          </a:rPr>
                          <m:t>, </m:t>
                        </m:r>
                        <m:r>
                          <a:rPr lang="en-US" altLang="ko-KR" sz="1682" i="1">
                            <a:latin typeface="Cambria Math"/>
                          </a:rPr>
                          <m:t>𝑗</m:t>
                        </m:r>
                        <m:r>
                          <a:rPr lang="en-US" altLang="ko-KR" sz="1682" i="1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sz="1682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0043" y="4074649"/>
                  <a:ext cx="649473" cy="351186"/>
                </a:xfrm>
                <a:prstGeom prst="rect">
                  <a:avLst/>
                </a:prstGeom>
                <a:blipFill>
                  <a:blip r:embed="rId2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/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FB0A621-BD6A-407B-BD16-EF0E4C29D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8" y="3566047"/>
                  <a:ext cx="25571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/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5876553-9055-46C1-9B84-2D28B4F69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817" y="1911825"/>
                  <a:ext cx="22685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4324" r="-24324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/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C46E9EE-40D8-4C64-9A6F-833BDD80CB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224" y="6113468"/>
                  <a:ext cx="340671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14286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/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4AA3EA-1ACD-49DD-B0B3-5721A2EE3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2377" y="5490452"/>
                  <a:ext cx="311816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5686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7C44B1A-AE00-4925-88FB-9A7E58B23B36}"/>
                </a:ext>
              </a:extLst>
            </p:cNvPr>
            <p:cNvSpPr txBox="1"/>
            <p:nvPr/>
          </p:nvSpPr>
          <p:spPr>
            <a:xfrm>
              <a:off x="8643133" y="5473611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 = 2</a:t>
              </a:r>
              <a:endParaRPr lang="ko-KR" altLang="en-US" dirty="0"/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8A0D07C6-CBBB-40A2-99FB-94DDFC52E8D7}"/>
                </a:ext>
              </a:extLst>
            </p:cNvPr>
            <p:cNvGrpSpPr/>
            <p:nvPr/>
          </p:nvGrpSpPr>
          <p:grpSpPr>
            <a:xfrm>
              <a:off x="9942692" y="5473611"/>
              <a:ext cx="1229468" cy="1152626"/>
              <a:chOff x="9297855" y="6165582"/>
              <a:chExt cx="1152128" cy="1080120"/>
            </a:xfrm>
          </p:grpSpPr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2FB590E8-1AD8-4043-8998-69B6863D515F}"/>
                  </a:ext>
                </a:extLst>
              </p:cNvPr>
              <p:cNvSpPr/>
              <p:nvPr/>
            </p:nvSpPr>
            <p:spPr>
              <a:xfrm>
                <a:off x="9297855" y="6757664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803F17A0-8FF0-487A-B743-0FAD1DAB36A1}"/>
                  </a:ext>
                </a:extLst>
              </p:cNvPr>
              <p:cNvSpPr/>
              <p:nvPr/>
            </p:nvSpPr>
            <p:spPr>
              <a:xfrm>
                <a:off x="9928295" y="6165582"/>
                <a:ext cx="521688" cy="488038"/>
              </a:xfrm>
              <a:prstGeom prst="rect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5043" tIns="47521" rIns="95043" bIns="47521" rtlCol="0" anchor="ctr"/>
              <a:lstStyle/>
              <a:p>
                <a:pPr algn="ctr"/>
                <a:endParaRPr lang="ko-KR" altLang="en-US" sz="1682"/>
              </a:p>
            </p:txBody>
          </p:sp>
        </p:grp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AB85D20D-73BB-4FCD-9127-BE00075041D7}"/>
                </a:ext>
              </a:extLst>
            </p:cNvPr>
            <p:cNvSpPr/>
            <p:nvPr/>
          </p:nvSpPr>
          <p:spPr>
            <a:xfrm>
              <a:off x="10615452" y="6110812"/>
              <a:ext cx="556707" cy="520799"/>
            </a:xfrm>
            <a:prstGeom prst="rect">
              <a:avLst/>
            </a:prstGeom>
            <a:solidFill>
              <a:srgbClr val="CCC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5043" tIns="47521" rIns="95043" bIns="47521" rtlCol="0" anchor="ctr"/>
            <a:lstStyle/>
            <a:p>
              <a:pPr algn="ctr"/>
              <a:endParaRPr lang="ko-KR" altLang="en-US" sz="1682"/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13B92EA-61B6-4332-9C4F-E573A567DE3C}"/>
              </a:ext>
            </a:extLst>
          </p:cNvPr>
          <p:cNvGrpSpPr/>
          <p:nvPr/>
        </p:nvGrpSpPr>
        <p:grpSpPr>
          <a:xfrm>
            <a:off x="847836" y="1993587"/>
            <a:ext cx="6386833" cy="4362724"/>
            <a:chOff x="921565" y="2047731"/>
            <a:chExt cx="6149583" cy="4200663"/>
          </a:xfrm>
        </p:grpSpPr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73FAE64D-293A-4E0A-A3A4-9EB465FFD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1565" y="2047731"/>
              <a:ext cx="6149583" cy="4200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1905DD9D-4BA4-46F5-B886-499331192466}"/>
                </a:ext>
              </a:extLst>
            </p:cNvPr>
            <p:cNvCxnSpPr/>
            <p:nvPr/>
          </p:nvCxnSpPr>
          <p:spPr>
            <a:xfrm>
              <a:off x="3056200" y="4592722"/>
              <a:ext cx="846701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1C2FB0DA-1234-497F-935C-BE5FA39A5648}"/>
                </a:ext>
              </a:extLst>
            </p:cNvPr>
            <p:cNvCxnSpPr>
              <a:cxnSpLocks/>
            </p:cNvCxnSpPr>
            <p:nvPr/>
          </p:nvCxnSpPr>
          <p:spPr>
            <a:xfrm>
              <a:off x="4112539" y="4592722"/>
              <a:ext cx="1298757" cy="0"/>
            </a:xfrm>
            <a:prstGeom prst="line">
              <a:avLst/>
            </a:prstGeom>
            <a:ln w="3810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3AE6B7BB-F74E-4844-8B98-307C0DBDECEF}"/>
                </a:ext>
              </a:extLst>
            </p:cNvPr>
            <p:cNvCxnSpPr/>
            <p:nvPr/>
          </p:nvCxnSpPr>
          <p:spPr>
            <a:xfrm>
              <a:off x="5682559" y="4592721"/>
              <a:ext cx="216664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0D39C826-3831-41B3-BEC6-453D5CAA15C0}"/>
                </a:ext>
              </a:extLst>
            </p:cNvPr>
            <p:cNvCxnSpPr>
              <a:cxnSpLocks/>
            </p:cNvCxnSpPr>
            <p:nvPr/>
          </p:nvCxnSpPr>
          <p:spPr>
            <a:xfrm>
              <a:off x="3056200" y="4796991"/>
              <a:ext cx="2626359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926F283C-115C-4F89-A82C-938D1F4310E9}"/>
                </a:ext>
              </a:extLst>
            </p:cNvPr>
            <p:cNvCxnSpPr/>
            <p:nvPr/>
          </p:nvCxnSpPr>
          <p:spPr>
            <a:xfrm>
              <a:off x="5895123" y="4796991"/>
              <a:ext cx="2936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6F7FD949-D1A7-40F9-8D8E-208D4846B6DF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4968441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5B45D89-106B-46CB-B99D-0ACCDA6D64B2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73" y="5714960"/>
              <a:ext cx="133389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691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9E8CB-582A-4F02-B35C-906816E5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성능 측정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4AF03-C378-4A0C-A32B-98C58CB15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latin typeface="+mn-ea"/>
                <a:ea typeface="+mn-ea"/>
              </a:rPr>
              <a:t>Release</a:t>
            </a:r>
            <a:r>
              <a:rPr lang="ko-KR" altLang="en-US" sz="2000" dirty="0">
                <a:latin typeface="+mn-ea"/>
                <a:ea typeface="+mn-ea"/>
              </a:rPr>
              <a:t> 모드에서 실험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4E39602A-15EA-4732-9F77-43A8AE8FCCF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26336984"/>
                  </p:ext>
                </p:extLst>
              </p:nvPr>
            </p:nvGraphicFramePr>
            <p:xfrm>
              <a:off x="838197" y="1971169"/>
              <a:ext cx="10515602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1720">
                      <a:extLst>
                        <a:ext uri="{9D8B030D-6E8A-4147-A177-3AD203B41FA5}">
                          <a16:colId xmlns:a16="http://schemas.microsoft.com/office/drawing/2014/main" val="2617333073"/>
                        </a:ext>
                      </a:extLst>
                    </a:gridCol>
                    <a:gridCol w="1751720">
                      <a:extLst>
                        <a:ext uri="{9D8B030D-6E8A-4147-A177-3AD203B41FA5}">
                          <a16:colId xmlns:a16="http://schemas.microsoft.com/office/drawing/2014/main" val="2014756304"/>
                        </a:ext>
                      </a:extLst>
                    </a:gridCol>
                    <a:gridCol w="1751720">
                      <a:extLst>
                        <a:ext uri="{9D8B030D-6E8A-4147-A177-3AD203B41FA5}">
                          <a16:colId xmlns:a16="http://schemas.microsoft.com/office/drawing/2014/main" val="923687971"/>
                        </a:ext>
                      </a:extLst>
                    </a:gridCol>
                    <a:gridCol w="1751720">
                      <a:extLst>
                        <a:ext uri="{9D8B030D-6E8A-4147-A177-3AD203B41FA5}">
                          <a16:colId xmlns:a16="http://schemas.microsoft.com/office/drawing/2014/main" val="3230118921"/>
                        </a:ext>
                      </a:extLst>
                    </a:gridCol>
                    <a:gridCol w="1751720">
                      <a:extLst>
                        <a:ext uri="{9D8B030D-6E8A-4147-A177-3AD203B41FA5}">
                          <a16:colId xmlns:a16="http://schemas.microsoft.com/office/drawing/2014/main" val="2415554352"/>
                        </a:ext>
                      </a:extLst>
                    </a:gridCol>
                    <a:gridCol w="1757002">
                      <a:extLst>
                        <a:ext uri="{9D8B030D-6E8A-4147-A177-3AD203B41FA5}">
                          <a16:colId xmlns:a16="http://schemas.microsoft.com/office/drawing/2014/main" val="1402185058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행렬의 크기</a:t>
                          </a:r>
                          <a:endParaRPr lang="en-US" altLang="ko-KR" dirty="0"/>
                        </a:p>
                        <a:p>
                          <a:pPr algn="ctr" latinLnBrk="1"/>
                          <a:r>
                            <a:rPr lang="en-US" altLang="ko-KR" dirty="0"/>
                            <a:t>(width)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 gridSpan="5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수행 시간 </a:t>
                          </a:r>
                          <a:r>
                            <a:rPr lang="en-US" altLang="ko-KR" dirty="0"/>
                            <a:t>(</a:t>
                          </a:r>
                          <a:r>
                            <a:rPr lang="en-US" altLang="ko-KR" dirty="0" err="1"/>
                            <a:t>ms</a:t>
                          </a:r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45589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① CPU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② GPU(</a:t>
                          </a:r>
                          <a:r>
                            <a:rPr lang="ko-KR" altLang="en-US" dirty="0"/>
                            <a:t>전역</a:t>
                          </a:r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③ GPU(</a:t>
                          </a:r>
                          <a:r>
                            <a:rPr lang="ko-KR" altLang="en-US" dirty="0"/>
                            <a:t>공유</a:t>
                          </a:r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① / ③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② / ③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8211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3837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1064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1024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2445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815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2.3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12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2048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60781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2762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2.45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68543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3072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212758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227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76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2799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2.98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21611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4096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546409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546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2577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2.57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0101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5120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N.A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1189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367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3.23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23789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4E39602A-15EA-4732-9F77-43A8AE8FCCF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26336984"/>
                  </p:ext>
                </p:extLst>
              </p:nvPr>
            </p:nvGraphicFramePr>
            <p:xfrm>
              <a:off x="838197" y="1971169"/>
              <a:ext cx="10515602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1720">
                      <a:extLst>
                        <a:ext uri="{9D8B030D-6E8A-4147-A177-3AD203B41FA5}">
                          <a16:colId xmlns:a16="http://schemas.microsoft.com/office/drawing/2014/main" val="2617333073"/>
                        </a:ext>
                      </a:extLst>
                    </a:gridCol>
                    <a:gridCol w="1751720">
                      <a:extLst>
                        <a:ext uri="{9D8B030D-6E8A-4147-A177-3AD203B41FA5}">
                          <a16:colId xmlns:a16="http://schemas.microsoft.com/office/drawing/2014/main" val="2014756304"/>
                        </a:ext>
                      </a:extLst>
                    </a:gridCol>
                    <a:gridCol w="1751720">
                      <a:extLst>
                        <a:ext uri="{9D8B030D-6E8A-4147-A177-3AD203B41FA5}">
                          <a16:colId xmlns:a16="http://schemas.microsoft.com/office/drawing/2014/main" val="923687971"/>
                        </a:ext>
                      </a:extLst>
                    </a:gridCol>
                    <a:gridCol w="1751720">
                      <a:extLst>
                        <a:ext uri="{9D8B030D-6E8A-4147-A177-3AD203B41FA5}">
                          <a16:colId xmlns:a16="http://schemas.microsoft.com/office/drawing/2014/main" val="3230118921"/>
                        </a:ext>
                      </a:extLst>
                    </a:gridCol>
                    <a:gridCol w="1751720">
                      <a:extLst>
                        <a:ext uri="{9D8B030D-6E8A-4147-A177-3AD203B41FA5}">
                          <a16:colId xmlns:a16="http://schemas.microsoft.com/office/drawing/2014/main" val="2415554352"/>
                        </a:ext>
                      </a:extLst>
                    </a:gridCol>
                    <a:gridCol w="1757002">
                      <a:extLst>
                        <a:ext uri="{9D8B030D-6E8A-4147-A177-3AD203B41FA5}">
                          <a16:colId xmlns:a16="http://schemas.microsoft.com/office/drawing/2014/main" val="1402185058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행렬의 크기</a:t>
                          </a:r>
                          <a:endParaRPr lang="en-US" altLang="ko-KR" dirty="0"/>
                        </a:p>
                        <a:p>
                          <a:pPr algn="ctr" latinLnBrk="1"/>
                          <a:r>
                            <a:rPr lang="en-US" altLang="ko-KR" dirty="0"/>
                            <a:t>(width)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 gridSpan="5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수행 시간 </a:t>
                          </a:r>
                          <a:r>
                            <a:rPr lang="en-US" altLang="ko-KR" dirty="0"/>
                            <a:t>(</a:t>
                          </a:r>
                          <a:r>
                            <a:rPr lang="en-US" altLang="ko-KR" dirty="0" err="1"/>
                            <a:t>ms</a:t>
                          </a:r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45589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① CPU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② GPU(</a:t>
                          </a:r>
                          <a:r>
                            <a:rPr lang="ko-KR" altLang="en-US" dirty="0"/>
                            <a:t>전역</a:t>
                          </a:r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③ GPU(</a:t>
                          </a:r>
                          <a:r>
                            <a:rPr lang="ko-KR" altLang="en-US" dirty="0"/>
                            <a:t>공유</a:t>
                          </a:r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① / ③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② / ③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8211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99653" t="-211475" r="-10138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99653" t="-211475" r="-138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43837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99653" t="-311475" r="-10138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99653" t="-311475" r="-138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0649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1024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2445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815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2.3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12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2048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60781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2762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2.45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68543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3072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212758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227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76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2799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2.98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21611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4096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546409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546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212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2577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2.57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0101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5120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N.A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1189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367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3.23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23789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5477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A8D12-B821-4D8B-264C-1DC15358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latin typeface="+mn-ea"/>
                <a:ea typeface="+mn-ea"/>
                <a:cs typeface="Arial Black" pitchFamily="34" charset="-120"/>
              </a:rPr>
              <a:t>요약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80C9BA-673B-A910-A29B-1320E914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B372F00-2DC9-34F9-C037-59BF56E55B9B}"/>
              </a:ext>
            </a:extLst>
          </p:cNvPr>
          <p:cNvGrpSpPr/>
          <p:nvPr/>
        </p:nvGrpSpPr>
        <p:grpSpPr>
          <a:xfrm>
            <a:off x="837512" y="1588072"/>
            <a:ext cx="10516288" cy="4041338"/>
            <a:chOff x="274320" y="1234440"/>
            <a:chExt cx="8732520" cy="3355848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C669F2D3-C547-A0FE-7516-4C08CCB5F37C}"/>
                </a:ext>
              </a:extLst>
            </p:cNvPr>
            <p:cNvSpPr/>
            <p:nvPr/>
          </p:nvSpPr>
          <p:spPr>
            <a:xfrm>
              <a:off x="274320" y="1234440"/>
              <a:ext cx="4251960" cy="1572768"/>
            </a:xfrm>
            <a:prstGeom prst="rect">
              <a:avLst/>
            </a:prstGeom>
            <a:solidFill>
              <a:srgbClr val="1A3A5C"/>
            </a:solidFill>
            <a:ln w="12700">
              <a:solidFill>
                <a:srgbClr val="00C8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2054A6D3-DC85-435E-DB78-784EF6F0ED6B}"/>
                </a:ext>
              </a:extLst>
            </p:cNvPr>
            <p:cNvSpPr/>
            <p:nvPr/>
          </p:nvSpPr>
          <p:spPr>
            <a:xfrm>
              <a:off x="274320" y="1234440"/>
              <a:ext cx="91440" cy="1572768"/>
            </a:xfrm>
            <a:prstGeom prst="rect">
              <a:avLst/>
            </a:prstGeom>
            <a:solidFill>
              <a:srgbClr val="00C8FF"/>
            </a:solidFill>
            <a:ln w="12700">
              <a:solidFill>
                <a:srgbClr val="00C8FF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D3CA280F-7BBF-DED2-65C6-EEC85AFDB167}"/>
                </a:ext>
              </a:extLst>
            </p:cNvPr>
            <p:cNvSpPr/>
            <p:nvPr/>
          </p:nvSpPr>
          <p:spPr>
            <a:xfrm>
              <a:off x="475488" y="1344168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C8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🧠  메모리 계층 활용이 핵심</a:t>
              </a:r>
              <a:endParaRPr lang="en-US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FBBE4102-01DC-4948-A371-FA828695E7AF}"/>
                </a:ext>
              </a:extLst>
            </p:cNvPr>
            <p:cNvSpPr/>
            <p:nvPr/>
          </p:nvSpPr>
          <p:spPr>
            <a:xfrm>
              <a:off x="475488" y="1764792"/>
              <a:ext cx="39319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 최적화는 느린 Global Memory 접근을 최소화하고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빠른 Shared Memory를 최대로 활용하는 것이 핵심</a:t>
              </a:r>
              <a:endParaRPr lang="en-US" sz="1600" dirty="0"/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BBE764E0-944C-F825-4C5C-8D7A2B01DA5C}"/>
                </a:ext>
              </a:extLst>
            </p:cNvPr>
            <p:cNvSpPr/>
            <p:nvPr/>
          </p:nvSpPr>
          <p:spPr>
            <a:xfrm>
              <a:off x="4754880" y="1234440"/>
              <a:ext cx="4251960" cy="1572768"/>
            </a:xfrm>
            <a:prstGeom prst="rect">
              <a:avLst/>
            </a:prstGeom>
            <a:solidFill>
              <a:srgbClr val="1A3A5C"/>
            </a:solidFill>
            <a:ln w="12700">
              <a:solidFill>
                <a:srgbClr val="76B90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F3EC9AA9-1F0A-51E0-965A-FEA898F30EF2}"/>
                </a:ext>
              </a:extLst>
            </p:cNvPr>
            <p:cNvSpPr/>
            <p:nvPr/>
          </p:nvSpPr>
          <p:spPr>
            <a:xfrm>
              <a:off x="4754880" y="1234440"/>
              <a:ext cx="91440" cy="1572768"/>
            </a:xfrm>
            <a:prstGeom prst="rect">
              <a:avLst/>
            </a:prstGeom>
            <a:solidFill>
              <a:srgbClr val="76B900"/>
            </a:solidFill>
            <a:ln w="12700">
              <a:solidFill>
                <a:srgbClr val="76B900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5DBD0BE3-FF95-091B-9F0C-D919FF740438}"/>
                </a:ext>
              </a:extLst>
            </p:cNvPr>
            <p:cNvSpPr/>
            <p:nvPr/>
          </p:nvSpPr>
          <p:spPr>
            <a:xfrm>
              <a:off x="4956048" y="1344168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6B9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📐  Tiling = 데이터 재사용</a:t>
              </a:r>
              <a:endParaRPr lang="en-US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DD3852FF-00E9-9623-6E64-E0C8CAAC5BD0}"/>
                </a:ext>
              </a:extLst>
            </p:cNvPr>
            <p:cNvSpPr/>
            <p:nvPr/>
          </p:nvSpPr>
          <p:spPr>
            <a:xfrm>
              <a:off x="4956048" y="1764792"/>
              <a:ext cx="39319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TILE_WIDTH×TILE_WIDTH 블록 단위 로드 → </a:t>
              </a:r>
              <a:r>
                <a:rPr lang="en-US" sz="1600" dirty="0" err="1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동일</a:t>
              </a: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데이터를</a:t>
              </a: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TILE_WIDTH 번 재사용 → Global 접근 1/16로 감소</a:t>
              </a:r>
              <a:endParaRPr lang="en-US" sz="1600" dirty="0"/>
            </a:p>
          </p:txBody>
        </p:sp>
        <p:sp>
          <p:nvSpPr>
            <p:cNvPr id="12" name="Shape 11">
              <a:extLst>
                <a:ext uri="{FF2B5EF4-FFF2-40B4-BE49-F238E27FC236}">
                  <a16:creationId xmlns:a16="http://schemas.microsoft.com/office/drawing/2014/main" id="{EFE64AE7-A522-17C8-3CBB-BA59A55E097D}"/>
                </a:ext>
              </a:extLst>
            </p:cNvPr>
            <p:cNvSpPr/>
            <p:nvPr/>
          </p:nvSpPr>
          <p:spPr>
            <a:xfrm>
              <a:off x="274320" y="3017520"/>
              <a:ext cx="4251960" cy="1572768"/>
            </a:xfrm>
            <a:prstGeom prst="rect">
              <a:avLst/>
            </a:prstGeom>
            <a:solidFill>
              <a:srgbClr val="1A3A5C"/>
            </a:solidFill>
            <a:ln w="12700">
              <a:solidFill>
                <a:srgbClr val="FFA72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29F7AFF8-5D13-0ADD-6E7B-3D9D01FBFECB}"/>
                </a:ext>
              </a:extLst>
            </p:cNvPr>
            <p:cNvSpPr/>
            <p:nvPr/>
          </p:nvSpPr>
          <p:spPr>
            <a:xfrm>
              <a:off x="274320" y="3017520"/>
              <a:ext cx="91440" cy="1572768"/>
            </a:xfrm>
            <a:prstGeom prst="rect">
              <a:avLst/>
            </a:prstGeom>
            <a:solidFill>
              <a:srgbClr val="FFA726"/>
            </a:solidFill>
            <a:ln w="12700">
              <a:solidFill>
                <a:srgbClr val="FFA726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04DBFECE-DA98-83A6-75E7-0696E68DD7A0}"/>
                </a:ext>
              </a:extLst>
            </p:cNvPr>
            <p:cNvSpPr/>
            <p:nvPr/>
          </p:nvSpPr>
          <p:spPr>
            <a:xfrm>
              <a:off x="475488" y="3127248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A7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🔄  __syncthreads() 는 필수</a:t>
              </a:r>
              <a:endParaRPr lang="en-US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8C4C3982-5F58-4847-B4E0-259A8CBFC669}"/>
                </a:ext>
              </a:extLst>
            </p:cNvPr>
            <p:cNvSpPr/>
            <p:nvPr/>
          </p:nvSpPr>
          <p:spPr>
            <a:xfrm>
              <a:off x="475488" y="3547872"/>
              <a:ext cx="39319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공유 메모리 로드/연산 경계마다 동기화 필요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Race Condition 방지 + 결과 정확성 보장</a:t>
              </a:r>
              <a:endParaRPr lang="en-US" sz="1600" dirty="0"/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2ABA8126-45E3-65CC-62A4-1D587F65C375}"/>
                </a:ext>
              </a:extLst>
            </p:cNvPr>
            <p:cNvSpPr/>
            <p:nvPr/>
          </p:nvSpPr>
          <p:spPr>
            <a:xfrm>
              <a:off x="4754880" y="3017520"/>
              <a:ext cx="4251960" cy="1572768"/>
            </a:xfrm>
            <a:prstGeom prst="rect">
              <a:avLst/>
            </a:prstGeom>
            <a:solidFill>
              <a:srgbClr val="1A3A5C"/>
            </a:solidFill>
            <a:ln w="12700">
              <a:solidFill>
                <a:srgbClr val="EF535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7" name="Shape 16">
              <a:extLst>
                <a:ext uri="{FF2B5EF4-FFF2-40B4-BE49-F238E27FC236}">
                  <a16:creationId xmlns:a16="http://schemas.microsoft.com/office/drawing/2014/main" id="{F20CDE8C-E133-11F9-633B-A325FA0A94D3}"/>
                </a:ext>
              </a:extLst>
            </p:cNvPr>
            <p:cNvSpPr/>
            <p:nvPr/>
          </p:nvSpPr>
          <p:spPr>
            <a:xfrm>
              <a:off x="4754880" y="3017520"/>
              <a:ext cx="91440" cy="1572768"/>
            </a:xfrm>
            <a:prstGeom prst="rect">
              <a:avLst/>
            </a:prstGeom>
            <a:solidFill>
              <a:srgbClr val="EF5350"/>
            </a:solidFill>
            <a:ln w="12700">
              <a:solidFill>
                <a:srgbClr val="EF5350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17E45FF6-BE4F-A8FC-5B4B-7957BEA92A70}"/>
                </a:ext>
              </a:extLst>
            </p:cNvPr>
            <p:cNvSpPr/>
            <p:nvPr/>
          </p:nvSpPr>
          <p:spPr>
            <a:xfrm>
              <a:off x="4956048" y="3127248"/>
              <a:ext cx="3931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EF5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⚡  검증된 성능 향상</a:t>
              </a:r>
              <a:endParaRPr lang="en-US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07E7747C-6475-E6E3-D101-D705ABA747C3}"/>
                </a:ext>
              </a:extLst>
            </p:cNvPr>
            <p:cNvSpPr/>
            <p:nvPr/>
          </p:nvSpPr>
          <p:spPr>
            <a:xfrm>
              <a:off x="4956048" y="3547872"/>
              <a:ext cx="39319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2048×2048 행렬에서 약 ~2.5× Speedup 달성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C8D8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TILE_WIDTH 조정 및 DRAM Bandwidth 분석으로 추가 최적화 가능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39183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89AC38-7C4D-49C8-B528-62209AF5D891}"/>
              </a:ext>
            </a:extLst>
          </p:cNvPr>
          <p:cNvSpPr/>
          <p:nvPr/>
        </p:nvSpPr>
        <p:spPr>
          <a:xfrm>
            <a:off x="5127465" y="2932710"/>
            <a:ext cx="1937069" cy="99257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ko-KR" sz="6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Q&amp;A</a:t>
            </a:r>
            <a:endParaRPr lang="en-US" altLang="ko-KR" sz="405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538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12082</TotalTime>
  <Words>557</Words>
  <Application>Microsoft Office PowerPoint</Application>
  <PresentationFormat>와이드스크린</PresentationFormat>
  <Paragraphs>165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굴림</vt:lpstr>
      <vt:lpstr>맑은 고딕</vt:lpstr>
      <vt:lpstr>Arial</vt:lpstr>
      <vt:lpstr>Calibri</vt:lpstr>
      <vt:lpstr>Cambria Math</vt:lpstr>
      <vt:lpstr>Tahoma</vt:lpstr>
      <vt:lpstr>Office 테마</vt:lpstr>
      <vt:lpstr>1_디자인 사용자 지정</vt:lpstr>
      <vt:lpstr>공유 메모리를 이용한 행렬 곱</vt:lpstr>
      <vt:lpstr>학습 내용</vt:lpstr>
      <vt:lpstr>GPU 메모리 계층 구조</vt:lpstr>
      <vt:lpstr>전역 메모리를 이용한 행렬 곱</vt:lpstr>
      <vt:lpstr>공유 메모리를 이용한 행렬 곱</vt:lpstr>
      <vt:lpstr>공유 메모리를 이용한 행렬 곱</vt:lpstr>
      <vt:lpstr>공유 메모리를 이용한 행렬 곱</vt:lpstr>
      <vt:lpstr>공유 메모리를 이용한 행렬 곱</vt:lpstr>
      <vt:lpstr>공유 메모리를 이용한 행렬 곱</vt:lpstr>
      <vt:lpstr>공유 메모리를 이용한 행렬 곱</vt:lpstr>
      <vt:lpstr>공유 메모리를 이용한 행렬 곱</vt:lpstr>
      <vt:lpstr>성능 측정</vt:lpstr>
      <vt:lpstr>요약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Minkowski Sum Computation for Planar Freeform Geometric Models using G^1-Biarc Approximation and Interior Disks Culling</dc:title>
  <dc:creator>SHYUN</dc:creator>
  <cp:lastModifiedBy>윤승현/컴퓨터·AI학부</cp:lastModifiedBy>
  <cp:revision>929</cp:revision>
  <cp:lastPrinted>2019-06-15T23:57:23Z</cp:lastPrinted>
  <dcterms:created xsi:type="dcterms:W3CDTF">2019-06-03T00:50:24Z</dcterms:created>
  <dcterms:modified xsi:type="dcterms:W3CDTF">2026-04-07T00:57:05Z</dcterms:modified>
</cp:coreProperties>
</file>